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Ablation 45 — Documentación de profundidad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Conflict-Aware Cross-Attention trimodal</a:t>
            </a:r>
          </a:p>
          <a:p>
            <a:r>
              <a:t>+ MultiScaleTemporal Classification Head</a:t>
            </a:r>
          </a:p>
          <a:p>
            <a:r>
              <a:t>CONFORMER-SER · SOTA (serie 34–45)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Resumen ejecutivo y motivación</a:t>
            </a:r>
          </a:p>
          <a:p>
            <a:pPr>
              <a:spcAft>
                <a:spcPts val="600"/>
              </a:spcAft>
              <a:defRPr sz="1800"/>
            </a:pPr>
            <a:r>
              <a:t>Arquitectura global y preprocesamiento</a:t>
            </a:r>
          </a:p>
          <a:p>
            <a:pPr>
              <a:spcAft>
                <a:spcPts val="600"/>
              </a:spcAft>
              <a:defRPr sz="1800"/>
            </a:pPr>
            <a:r>
              <a:t>Fusión Conflict-Aware</a:t>
            </a:r>
          </a:p>
          <a:p>
            <a:pPr>
              <a:spcAft>
                <a:spcPts val="600"/>
              </a:spcAft>
              <a:defRPr sz="1800"/>
            </a:pPr>
            <a:r>
              <a:t>Cabeza MultiScaleTemporal</a:t>
            </a:r>
          </a:p>
          <a:p>
            <a:pPr>
              <a:spcAft>
                <a:spcPts val="600"/>
              </a:spcAft>
              <a:defRPr sz="1800"/>
            </a:pPr>
            <a:r>
              <a:t>Entrenamiento e hiperparámetros</a:t>
            </a:r>
          </a:p>
          <a:p>
            <a:pPr>
              <a:spcAft>
                <a:spcPts val="600"/>
              </a:spcAft>
              <a:defRPr sz="1800"/>
            </a:pPr>
            <a:r>
              <a:t>Ablation 34 vs 45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Modelo trimodal (audio + texto + visión) para SER sobre IEMOCAP</a:t>
            </a:r>
          </a:p>
          <a:p>
            <a:pPr>
              <a:spcAft>
                <a:spcPts val="600"/>
              </a:spcAft>
              <a:defRPr sz="1800"/>
            </a:pPr>
            <a:r>
              <a:t>Tres líneas: fusión por atención cruzada, resolución de conflictos (Ablation 34), cabeza temporal multiescala (45)</a:t>
            </a:r>
          </a:p>
          <a:p>
            <a:pPr>
              <a:spcAft>
                <a:spcPts val="600"/>
              </a:spcAft>
              <a:defRPr sz="1800"/>
            </a:pPr>
            <a:r>
              <a:t>No solo fusiona: pondera confiabilidad relativa ante contradicciones y captura patrones en varias “vistas” antes de clasificar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y hipótesis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Audio (prosodia), texto (léxico) y visión (log-mel) no siempre coinciden — sarcasmo, ruido, ASR erróneo</a:t>
            </a:r>
          </a:p>
          <a:p>
            <a:pPr>
              <a:spcAft>
                <a:spcPts val="600"/>
              </a:spcAft>
              <a:defRPr sz="1800"/>
            </a:pPr>
            <a:r>
              <a:t>Hipótesis: la fusión debe ser consciente del conflicto y ponderar dinámicamente, no promediar a ciegas</a:t>
            </a:r>
          </a:p>
          <a:p>
            <a:pPr>
              <a:spcAft>
                <a:spcPts val="600"/>
              </a:spcAft>
              <a:defRPr sz="1800"/>
            </a:pPr>
            <a:r>
              <a:t>Visión: log-mel derivado del mismo waveform que Wav2Vec2 — complemento espectral al dominio temporal del audio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Evolución (referencia UA)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13c ~73% · 25 Enhanced Cross-Attention 77.44% · 34 Conflict-Aware 77.98%</a:t>
            </a:r>
          </a:p>
          <a:p>
            <a:pPr>
              <a:spcAft>
                <a:spcPts val="600"/>
              </a:spcAft>
              <a:defRPr sz="1800"/>
            </a:pPr>
            <a:r>
              <a:t>45 = mismo backbone que 34 + cabeza MultiScaleTemporal → SOTA del proyecto</a:t>
            </a:r>
          </a:p>
          <a:p>
            <a:pPr>
              <a:spcAft>
                <a:spcPts val="600"/>
              </a:spcAft>
              <a:defRPr sz="1800"/>
            </a:pPr>
            <a:r>
              <a:t>Diseño experimental: un solo componente cambia entre 34 y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Entradas y encoders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Audio: waveform 16 kHz, hasta ~8 s → facebook/wav2vec2-base (768), últimas 6 capas entrenables</a:t>
            </a:r>
          </a:p>
          <a:p>
            <a:pPr>
              <a:spcAft>
                <a:spcPts val="600"/>
              </a:spcAft>
              <a:defRPr sz="1800"/>
            </a:pPr>
            <a:r>
              <a:t>Texto: hasta 128 tokens → distilbert-base-uncased (768), últimas 4 capas entrenables; SpeechCue opcional</a:t>
            </a:r>
          </a:p>
          <a:p>
            <a:pPr>
              <a:spcAft>
                <a:spcPts val="600"/>
              </a:spcAft>
              <a:defRPr sz="1800"/>
            </a:pPr>
            <a:r>
              <a:t>Visión: MelSpectrogram → log + z-score → 224×224, 3 canales → google/vit-base-patch16-224 (768), congelado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Fusión: ConflictAwareCrossAttentionFusion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Proyección 768→512 por modalidad; clasificadores auxiliares (4 clases) solo para detectar conflicto</a:t>
            </a:r>
          </a:p>
          <a:p>
            <a:pPr>
              <a:spcAft>
                <a:spcPts val="600"/>
              </a:spcAft>
              <a:defRPr sz="1800"/>
            </a:pPr>
            <a:r>
              <a:t>3 capas MultiheadAttention sobre secuencia (B, 3, 512); método prediction_divergence (≥2 pares en desacuerdo)</a:t>
            </a:r>
          </a:p>
          <a:p>
            <a:pPr>
              <a:spcAft>
                <a:spcPts val="600"/>
              </a:spcAft>
              <a:defRPr sz="1800"/>
            </a:pPr>
            <a:r>
              <a:t>confidence_net → 3 scores; sin conflicto pesos 1/3; con conflicto pesos normalizados por confianza</a:t>
            </a:r>
          </a:p>
          <a:p>
            <a:pPr>
              <a:spcAft>
                <a:spcPts val="600"/>
              </a:spcAft>
              <a:defRPr sz="1800"/>
            </a:pPr>
            <a:r>
              <a:t>Fusion MLP: 1536 → 256 (GELU, LayerNorm, dropout decreciente)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Cabeza: MultiScaleTemporalClassificationHead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Entrada fusionada (B, 256): mean, max y attention pooling → secuencia (B, 3, 256)</a:t>
            </a:r>
          </a:p>
          <a:p>
            <a:pPr>
              <a:spcAft>
                <a:spcPts val="600"/>
              </a:spcAft>
              <a:defRPr sz="1800"/>
            </a:pPr>
            <a:r>
              <a:t>BiLSTM 2 capas, hidden 512, dropout 0.3; self-attention 4 cabezas sobre la secuencia de 3 tokens</a:t>
            </a:r>
          </a:p>
          <a:p>
            <a:pPr>
              <a:spcAft>
                <a:spcPts val="600"/>
              </a:spcAft>
              <a:defRPr sz="1800"/>
            </a:pPr>
            <a:r>
              <a:t>Concatena pool_concat (768) + lstm (1024) + self-attn pooled (256) = 2048 → dropout 0.4 → lineal a 4 clases</a:t>
            </a:r>
          </a:p>
          <a:p>
            <a:pPr>
              <a:spcAft>
                <a:spcPts val="600"/>
              </a:spcAft>
              <a:defRPr sz="1800"/>
            </a:pPr>
            <a:r>
              <a:t>Idea: “data augmentation” en el espacio de representaciones frente a LSTM sobre un solo token (Ablation 34)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Entrenamiento (extracto)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Loss: CrossEntropy + label_smoothing=0.1; Adam con 3 grupos LR (audio 3e-5, texto 2e-5, fusión 5e-6)</a:t>
            </a:r>
          </a:p>
          <a:p>
            <a:pPr>
              <a:spcAft>
                <a:spcPts val="600"/>
              </a:spcAft>
              <a:defRPr sz="1800"/>
            </a:pPr>
            <a:r>
              <a:t>Batch 4 × acumulación 8 = efectivo 32; 100 épocas; early stopping patience 8; ReduceLROnPlateau</a:t>
            </a:r>
          </a:p>
          <a:p>
            <a:pPr>
              <a:spcAft>
                <a:spcPts val="600"/>
              </a:spcAft>
              <a:defRPr sz="1800"/>
            </a:pPr>
            <a:r>
              <a:t>Regularización fuerte: dropout 0.5 en fusión, weight_decay 0.05, max_grad_norm 1.0; mixed_precision false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34 vs 45 (único cambio)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Misma clase Ablation34Model, mismos encoders, misma fusión conflict-aware</a:t>
            </a:r>
          </a:p>
          <a:p>
            <a:pPr>
              <a:spcAft>
                <a:spcPts val="600"/>
              </a:spcAft>
              <a:defRPr sz="1800"/>
            </a:pPr>
            <a:r>
              <a:t>34: LSTMClassificationHead sobre (B, 1, 256) — salida efectiva limitada</a:t>
            </a:r>
          </a:p>
          <a:p>
            <a:pPr>
              <a:spcAft>
                <a:spcPts val="600"/>
              </a:spcAft>
              <a:defRPr sz="1800"/>
            </a:pPr>
            <a:r>
              <a:t>45: multivista + BiLSTM mayor + self-attn → 2048-D antes del clasificador (~7× parámetros en cabeza)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Ventajas y limitaciones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Ventajas: robustez multimodal, multiescala explícita, interpretación parcial (conflicto + confianza), modularidad</a:t>
            </a:r>
          </a:p>
          <a:p>
            <a:pPr>
              <a:spcAft>
                <a:spcPts val="600"/>
              </a:spcAft>
              <a:defRPr sz="1800"/>
            </a:pPr>
            <a:r>
              <a:t>Limitaciones: coste computacional, sensibilidad a transcripciones ASR, conflicto binario, correlación audio–visión, riesgo de overfitting en ~4.5k utterances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Reproducibilidad (checklist)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IEMOCAP: sesiones 1–3 train, 4 val, 5 test</a:t>
            </a:r>
          </a:p>
          <a:p>
            <a:pPr>
              <a:spcAft>
                <a:spcPts val="600"/>
              </a:spcAft>
              <a:defRPr sz="1800"/>
            </a:pPr>
            <a:r>
              <a:t>config/ablation/ablation_45_multiscale_head.yaml + python scripts/run_ablation.py --study 45 --device cuda</a:t>
            </a:r>
          </a:p>
          <a:p>
            <a:pPr>
              <a:spcAft>
                <a:spcPts val="600"/>
              </a:spcAft>
              <a:defRPr sz="1800"/>
            </a:pPr>
            <a:r>
              <a:t>seed=42; GPU recomendada; orden de magnitud ~8–12 h en GPU moderna con early stopping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Líneas futuras (ideas)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800"/>
            </a:pPr>
            <a:r>
              <a:t>Conflicto continuo [0,1]; SupCon + MultiScaleTemporal; SpecAugment en rama visual</a:t>
            </a:r>
          </a:p>
          <a:p>
            <a:pPr>
              <a:spcAft>
                <a:spcPts val="600"/>
              </a:spcAft>
              <a:defRPr sz="1800"/>
            </a:pPr>
            <a:r>
              <a:t>Interpretabilidad (attention rollout); curriculum por conflicto; fusión jerárquica + conflict-aware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Preguntas</a:t>
            </a:r>
          </a:p>
          <a:p/>
          <a:p>
            <a:r>
              <a:t>Fuente: docs/ablation_45_deep_dive.md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