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1c5b6fb0-a4c7-f4c7-fbf4-d5d0e1d498d2}">
          <p14:sldIdLst>
            <p14:sldId id="256"/>
          </p14:sldIdLst>
        </p14:section>
        <p14:section name="El dictamen" id="{8ef2787a-f7b6-205c-6a5f-59ccaefecce7}">
          <p14:sldIdLst>
            <p14:sldId id="257"/>
            <p14:sldId id="258"/>
          </p14:sldIdLst>
        </p14:section>
        <p14:section name="La causa raiz" id="{5ba648f3-96e9-3c76-f591-f7d35a1ae5fe}">
          <p14:sldIdLst>
            <p14:sldId id="259"/>
            <p14:sldId id="260"/>
          </p14:sldIdLst>
        </p14:section>
        <p14:section name="La respuesta" id="{46034d55-6dfb-1331-540c-d73c3d0d0bf2}">
          <p14:sldIdLst>
            <p14:sldId id="261"/>
            <p14:sldId id="262"/>
          </p14:sldIdLst>
        </p14:section>
        <p14:section name="El hallazgo" id="{30609b17-8e5e-10a5-f43b-94093e647724}">
          <p14:sldIdLst>
            <p14:sldId id="263"/>
            <p14:sldId id="264"/>
            <p14:sldId id="265"/>
          </p14:sldIdLst>
        </p14:section>
        <p14:section name="Plan" id="{4430a43f-555b-e7c3-bcb3-ef20d3a301b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5D"/>
                </a:solidFill>
                <a:latin typeface="+mn-lt"/>
              </a:defRPr>
            </a:pPr>
            <a:r>
              <a:rPr sz="1300" b="0" i="0" u="none" strike="noStrike">
                <a:solidFill>
                  <a:srgbClr val="0B3C5D"/>
                </a:solidFill>
                <a:latin typeface="+mn-lt"/>
              </a:rPr>
              <a:t>La compuerta de conflicto, en cuatro configuraciones (UA %)</a:t>
            </a:r>
          </a:p>
        </c:rich>
      </c:tx>
      <c:layout/>
      <c:overlay val="0"/>
    </c:title>
    <c:autoTitleDeleted val="0"/>
    <c:plotArea>
      <c:layout/>
      <c:barChart>
        <c:barDir val="col"/>
        <c:grouping val="clustered"/>
        <c:varyColors val="0"/>
        <c:ser>
          <c:idx val="0"/>
          <c:order val="0"/>
          <c:tx>
            <c:strRef>
              <c:f>Sheet1!$B$1</c:f>
              <c:strCache>
                <c:ptCount val="1"/>
                <c:pt idx="0">
                  <c:v>UA</c:v>
                </c:pt>
              </c:strCache>
            </c:strRef>
          </c:tx>
          <c:spPr>
            <a:solidFill>
              <a:srgbClr val="6B7280"/>
            </a:solidFill>
            <a:effectLst/>
          </c:spPr>
          <c:invertIfNegative val="0"/>
          <c:dLbls>
            <c:numFmt formatCode="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2E7D5B"/>
              </a:solidFill>
              <a:effectLst/>
            </c:spPr>
          </c:dPt>
          <c:dPt>
            <c:idx val="2"/>
            <c:invertIfNegative val="0"/>
            <c:bubble3D val="0"/>
            <c:spPr>
              <a:solidFill>
                <a:srgbClr val="6B7280"/>
              </a:solidFill>
              <a:effectLst/>
            </c:spPr>
          </c:dPt>
          <c:dPt>
            <c:idx val="3"/>
            <c:invertIfNegative val="0"/>
            <c:bubble3D val="0"/>
            <c:spPr>
              <a:solidFill>
                <a:srgbClr val="6B7280"/>
              </a:solidFill>
              <a:effectLst/>
            </c:spPr>
          </c:dPt>
          <c:cat>
            <c:multiLvlStrRef>
              <c:f>Sheet1!$A$2:$A$5</c:f>
              <c:multiLvlStrCache>
                <c:ptCount val="4"/>
                <c:lvl>
                  <c:pt idx="0">
                    <c:v>Est. 72
compuerta rota</c:v>
                  </c:pt>
                  <c:pt idx="1">
                    <c:v>Est. 74
sin compuerta</c:v>
                  </c:pt>
                  <c:pt idx="2">
                    <c:v>Est. 75
detector entrenado</c:v>
                  </c:pt>
                  <c:pt idx="3">
                    <c:v>Est. 76
confianza calibrada</c:v>
                  </c:pt>
                </c:lvl>
              </c:multiLvlStrCache>
            </c:multiLvlStrRef>
          </c:cat>
          <c:val>
            <c:numRef>
              <c:f>Sheet1!$B$2:$B$5</c:f>
              <c:numCache>
                <c:formatCode>General</c:formatCode>
                <c:ptCount val="4"/>
                <c:pt idx="0">
                  <c:v>74.71</c:v>
                </c:pt>
                <c:pt idx="1">
                  <c:v>75.57</c:v>
                </c:pt>
                <c:pt idx="2">
                  <c:v>75.39</c:v>
                </c:pt>
                <c:pt idx="3">
                  <c:v>75.18</c:v>
                </c:pt>
              </c:numCache>
            </c:numRef>
          </c:val>
        </c:ser>
        <c:dLbls>
          <c:numFmt formatCode="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F3A4D"/>
                </a:solidFill>
                <a:latin typeface="+mn-lt"/>
              </a:defRPr>
            </a:pPr>
            <a:endParaRPr lang="en-US"/>
          </a:p>
        </c:txPr>
        <c:crossAx val="2094734552"/>
        <c:crosses val="autoZero"/>
        <c:auto val="1"/>
        <c:lblAlgn val="ctr"/>
        <c:noMultiLvlLbl val="1"/>
      </c:catAx>
      <c:valAx>
        <c:axId val="2094734552"/>
        <c:scaling>
          <c:orientation val="minMax"/>
          <c:max val="77"/>
          <c:min val="72"/>
        </c:scaling>
        <c:delete val="0"/>
        <c:axPos val="l"/>
        <c:majorGridlines>
          <c:spPr>
            <a:ln w="12700" cap="flat">
              <a:solidFill>
                <a:srgbClr val="DF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F3A4D"/>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5D"/>
                </a:solidFill>
                <a:latin typeface="+mn-lt"/>
              </a:defRPr>
            </a:pPr>
            <a:r>
              <a:rPr sz="1300" b="0" i="0" u="none" strike="noStrike">
                <a:solidFill>
                  <a:srgbClr val="0B3C5D"/>
                </a:solidFill>
                <a:latin typeface="+mn-lt"/>
              </a:rPr>
              <a:t>Cuanto aporta la fusion sobre solo audio (pp de UA, 2 semillas)</a:t>
            </a:r>
          </a:p>
        </c:rich>
      </c:tx>
      <c:layout/>
      <c:overlay val="0"/>
    </c:title>
    <c:autoTitleDeleted val="0"/>
    <c:plotArea>
      <c:layout/>
      <c:barChart>
        <c:barDir val="col"/>
        <c:grouping val="clustered"/>
        <c:varyColors val="0"/>
        <c:ser>
          <c:idx val="0"/>
          <c:order val="0"/>
          <c:tx>
            <c:strRef>
              <c:f>Sheet1!$B$1</c:f>
              <c:strCache>
                <c:ptCount val="1"/>
                <c:pt idx="0">
                  <c:v>Delta UA (fusion − solo audio)</c:v>
                </c:pt>
              </c:strCache>
            </c:strRef>
          </c:tx>
          <c:spPr>
            <a:solidFill>
              <a:srgbClr val="8C2F39"/>
            </a:solidFill>
            <a:effectLst/>
          </c:spPr>
          <c:invertIfNegative val="0"/>
          <c:dLbls>
            <c:numFmt formatCode="+0.00;−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8C2F39"/>
              </a:solidFill>
              <a:effectLst/>
            </c:spPr>
          </c:dPt>
          <c:dPt>
            <c:idx val="1"/>
            <c:invertIfNegative val="0"/>
            <c:bubble3D val="0"/>
            <c:spPr>
              <a:solidFill>
                <a:srgbClr val="1C7293"/>
              </a:solidFill>
              <a:effectLst/>
            </c:spPr>
          </c:dPt>
          <c:dPt>
            <c:idx val="2"/>
            <c:invertIfNegative val="0"/>
            <c:bubble3D val="0"/>
            <c:spPr>
              <a:solidFill>
                <a:srgbClr val="0B3C5D"/>
              </a:solidFill>
              <a:effectLst/>
            </c:spPr>
          </c:dPt>
          <c:cat>
            <c:multiLvlStrRef>
              <c:f>Sheet1!$A$2:$A$4</c:f>
              <c:multiLvlStrCache>
                <c:ptCount val="3"/>
                <c:lvl>
                  <c:pt idx="0">
                    <c:v>CREMA-D
texto nulo por diseno</c:v>
                  </c:pt>
                  <c:pt idx="1">
                    <c:v>IEMOCAP
texto informativo</c:v>
                  </c:pt>
                  <c:pt idx="2">
                    <c:v>MELD
texto dominante</c:v>
                  </c:pt>
                </c:lvl>
              </c:multiLvlStrCache>
            </c:multiLvlStrRef>
          </c:cat>
          <c:val>
            <c:numRef>
              <c:f>Sheet1!$B$2:$B$4</c:f>
              <c:numCache>
                <c:formatCode>General</c:formatCode>
                <c:ptCount val="3"/>
                <c:pt idx="0">
                  <c:v>-1.19</c:v>
                </c:pt>
                <c:pt idx="1">
                  <c:v>6.49</c:v>
                </c:pt>
                <c:pt idx="2">
                  <c:v>12.8</c:v>
                </c:pt>
              </c:numCache>
            </c:numRef>
          </c:val>
        </c:ser>
        <c:dLbls>
          <c:numFmt formatCode="+0.00;−0.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F3A4D"/>
                </a:solidFill>
                <a:latin typeface="+mn-lt"/>
              </a:defRPr>
            </a:pPr>
            <a:endParaRPr lang="en-US"/>
          </a:p>
        </c:txPr>
        <c:crossAx val="2094734552"/>
        <c:crosses val="autoZero"/>
        <c:auto val="1"/>
        <c:lblAlgn val="ctr"/>
        <c:noMultiLvlLbl val="1"/>
      </c:catAx>
      <c:valAx>
        <c:axId val="2094734552"/>
        <c:scaling>
          <c:orientation val="minMax"/>
          <c:max val="16"/>
          <c:min val="-4"/>
        </c:scaling>
        <c:delete val="0"/>
        <c:axPos val="l"/>
        <c:majorGridlines>
          <c:spPr>
            <a:ln w="12700" cap="flat">
              <a:solidFill>
                <a:srgbClr val="DF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F3A4D"/>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5D"/>
                </a:solidFill>
                <a:latin typeface="+mn-lt"/>
              </a:defRPr>
            </a:pPr>
            <a:r>
              <a:rPr sz="1300" b="0" i="0" u="none" strike="noStrike">
                <a:solidFill>
                  <a:srgbClr val="0B3C5D"/>
                </a:solidFill>
                <a:latin typeface="+mn-lt"/>
              </a:rPr>
              <a:t>Recall por clase en MELD (%, media de 2 semillas)</a:t>
            </a:r>
          </a:p>
        </c:rich>
      </c:tx>
      <c:layout/>
      <c:overlay val="0"/>
    </c:title>
    <c:autoTitleDeleted val="0"/>
    <c:plotArea>
      <c:layout/>
      <c:barChart>
        <c:barDir val="col"/>
        <c:grouping val="clustered"/>
        <c:varyColors val="0"/>
        <c:ser>
          <c:idx val="0"/>
          <c:order val="0"/>
          <c:tx>
            <c:strRef>
              <c:f>Sheet1!$B$1</c:f>
              <c:strCache>
                <c:ptCount val="1"/>
                <c:pt idx="0">
                  <c:v>Trimodal</c:v>
                </c:pt>
              </c:strCache>
            </c:strRef>
          </c:tx>
          <c:spPr>
            <a:solidFill>
              <a:srgbClr val="0B3C5D"/>
            </a:solidFill>
            <a:effectLst/>
          </c:spPr>
          <c:invertIfNegative val="0"/>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happy</c:v>
                  </c:pt>
                  <c:pt idx="1">
                    <c:v>neutral</c:v>
                  </c:pt>
                  <c:pt idx="2">
                    <c:v>sad</c:v>
                  </c:pt>
                  <c:pt idx="3">
                    <c:v>angry</c:v>
                  </c:pt>
                </c:lvl>
              </c:multiLvlStrCache>
            </c:multiLvlStrRef>
          </c:cat>
          <c:val>
            <c:numRef>
              <c:f>Sheet1!$B$2:$B$5</c:f>
              <c:numCache>
                <c:formatCode>General</c:formatCode>
                <c:ptCount val="4"/>
                <c:pt idx="0">
                  <c:v>57.96</c:v>
                </c:pt>
                <c:pt idx="1">
                  <c:v>77.07</c:v>
                </c:pt>
                <c:pt idx="2">
                  <c:v>42.07</c:v>
                </c:pt>
                <c:pt idx="3">
                  <c:v>58.12</c:v>
                </c:pt>
              </c:numCache>
            </c:numRef>
          </c:val>
        </c:ser>
        <c:ser>
          <c:idx val="1"/>
          <c:order val="1"/>
          <c:tx>
            <c:strRef>
              <c:f>Sheet1!$C$1</c:f>
              <c:strCache>
                <c:ptCount val="1"/>
                <c:pt idx="0">
                  <c:v>Solo audio</c:v>
                </c:pt>
              </c:strCache>
            </c:strRef>
          </c:tx>
          <c:spPr>
            <a:solidFill>
              <a:srgbClr val="6B7280"/>
            </a:solidFill>
            <a:effectLst/>
          </c:spPr>
          <c:invertIfNegative val="0"/>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happy</c:v>
                  </c:pt>
                  <c:pt idx="1">
                    <c:v>neutral</c:v>
                  </c:pt>
                  <c:pt idx="2">
                    <c:v>sad</c:v>
                  </c:pt>
                  <c:pt idx="3">
                    <c:v>angry</c:v>
                  </c:pt>
                </c:lvl>
              </c:multiLvlStrCache>
            </c:multiLvlStrRef>
          </c:cat>
          <c:val>
            <c:numRef>
              <c:f>Sheet1!$C$2:$C$5</c:f>
              <c:numCache>
                <c:formatCode>General</c:formatCode>
                <c:ptCount val="4"/>
                <c:pt idx="0">
                  <c:v>20.4</c:v>
                </c:pt>
                <c:pt idx="1">
                  <c:v>69.63</c:v>
                </c:pt>
                <c:pt idx="2">
                  <c:v>37.02</c:v>
                </c:pt>
                <c:pt idx="3">
                  <c:v>56.96</c:v>
                </c:pt>
              </c:numCache>
            </c:numRef>
          </c:val>
        </c:ser>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F3A4D"/>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12700" cap="flat">
              <a:solidFill>
                <a:srgbClr val="DF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F3A4D"/>
                </a:solidFill>
                <a:latin typeface="+mn-lt"/>
              </a:defRPr>
            </a:pPr>
            <a:endParaRPr lang="en-US"/>
          </a:p>
        </c:txPr>
        <c:crossAx val="2094734554"/>
        <c:crosses val="autoZero"/>
        <c:crossBetween val="between"/>
      </c:valAx>
      <c:spPr>
        <a:noFill/>
        <a:ln w="12700" cap="flat">
          <a:solidFill>
            <a:srgbClr val="FFFFFF"/>
          </a:solidFill>
        </a:ln>
        <a:effectLst/>
      </c:spPr>
    </c:plotArea>
    <c:legend>
      <c:legendPos val="t"/>
      <c:overlay val="0"/>
      <c:txPr>
        <a:bodyPr/>
        <a:lstStyle/>
        <a:p>
          <a:pPr>
            <a:defRPr sz="1100">
              <a:solidFill>
                <a:srgbClr val="2F3A4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en una frase: el paper fue rechazado, la auditoria encontro que el rechazo estaba justificado por razones mas profundas que las que vieron los revisores, y lo que queda ahora es un articulo distinto y mas fuerte, de alcance de revista JCR en lugar de congreso.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 y R2 dieron weak accept, R3 weak reject. Con esa combinacion el comite rechazo. Vale la pena subrayar que la originalidad la puntuaron 3, 3 y 4, y la relevancia 5, 4 y 4: la idea les parecio bien. Lo que hundio el paper fue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izquierda es lo que hay que conservar en la reescritura. La derecha es, literalmente, la lista de tareas que se trabajo estos meses. Las cuatro primeras objeciones estan resueltas; las dos ultimas estan en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incomodo de la reunion y conviene decirlo sin rodeos: el revisor 2 vio desde el PDF que los numeros no podian ser ciertos, y tenia razon. La auditoria encontro la causa, que era peor de lo que el podia ver: el corpus estaba mutilado y el numero era fuga lexica. Decir tambien que todo esto esta documentado con procedencia en docs/REWRITE_NOTES.md.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Importante no presentar esto como una grafica de barras: son tres protocolos distintos y compararlos entre si seria cometer el mismo error que critican los revisores. El 70.73 sale con 3 sesiones de entrenamiento, un 25 % menos de datos que el estandar; el 75.48 ya usa el protocolo estandar de 4 sesiones.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hallazgo metodologico que vale una subseccion: buena parte de la sigma entre folds que reporta la literatura de LOSO en IEMOCAP es ruido de seleccion de checkpoint, no varianza de hablante. Medido con un solo factor cambiado: validacion de un hablante da sigma 5.02 pp; validacion estratificada del 12 % da 2.68 pp, con la misma media. En WA baja de 4.49 a 0.90.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que mas conviene discutir con la asesora. La pieza que da nombre al paper no aporta nada medible, y eso se verifico en cuatro configuraciones distintas, incluida una en la que se entrena explicitamente la confianza por rama. Es mejor que esta conversacion ocurra ahora que con un revisor de revista.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CREMA-D: 4,899 clips, 5 grupos de actores disjuntos estratificados por sexo. MELD: 11,351 utterances en 4 clases, split oficial fijo. El delta de MELD esta cerrado con dos semillas por condicion: +12.80 pp con banda de mas menos 1.23, o sea 20.9 sigma. La celda que falta en el diseno es MSP-IMPROV: espontaneo, audio limpio de estudio, texto por ASR.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Interpretacion plausible, presentarla como tal: la ira tiene una marca acustica fuerte (intensidad, F0) que el audio ya captura, por eso no gana nada; la alegria no la tiene, menos aun en una sitcom donde la risa grabada solapa justo en esas utterances. Si preguntan por el rigor: el delta global es +12.80 pp con una banda de mas menos 1.23, es decir 20.9 sigma. Y el solo-audio resulto diez veces mas reproducible que el trimodal, 0.08 frente a 0.86 pp de sigma por corrida.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argumento de venta para una revista JCR: no es solo un modelo, es un modelo mas el instrumental que permite creer el numero. Y en este subcampo eso vale, porque la tabla de comparacion de nuestro propio manuscrito resulto invalida entera al verificar las cuatro referencias.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primeras son de R3 y son las que mas peso tienen si el articulo se vuelve a someter: sin ellas la objecion de comparabilidad sigue viva. Las dos del medio son nuestras y son rapidas. Las dos ultimas son redaccion.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pidiendo las dos cosas concretas: la firma para MSP-IMPROV y la decision de revista. Si la reunion sirve para arrancar el tramite de la licencia, la reunion ya valio la pena, porque es lo unico que no se puede desbloquear desde el codigo.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48840"/>
            <a:ext cx="10911535" cy="1371600"/>
          </a:xfrm>
          <a:prstGeom prst="rect">
            <a:avLst/>
          </a:prstGeom>
          <a:noFill/>
          <a:ln/>
        </p:spPr>
        <p:txBody>
          <a:bodyPr wrap="square" rtlCol="0"/>
          <a:lstStyle>
            <a:lvl1pPr algn="l" indent="0" marL="0">
              <a:buNone/>
              <a:defRPr lang="en-US" sz="4200" b="1" dirty="0">
                <a:solidFill>
                  <a:srgbClr val="FFFFFF"/>
                </a:solidFill>
              </a:defRPr>
            </a:lvl1pPr>
          </a:lstStyle>
          <a:p>
            <a:pPr algn="l" indent="0" marL="0">
              <a:buNone/>
            </a:pPr>
            <a:r>
              <a:rPr lang="en-US" sz="4200" b="1" dirty="0">
                <a:solidFill>
                  <a:srgbClr val="FFFFFF"/>
                </a:solidFill>
              </a:rPr>
              <a:t> </a:t>
            </a:r>
            <a:endParaRPr lang="en-US" sz="4200" dirty="0"/>
          </a:p>
        </p:txBody>
      </p:sp>
      <p:sp>
        <p:nvSpPr>
          <p:cNvPr id="3" name="Text 0"/>
          <p:cNvSpPr/>
          <p:nvPr>
            <p:ph idx="101" type="body" hasCustomPrompt="1"/>
          </p:nvPr>
        </p:nvSpPr>
        <p:spPr>
          <a:xfrm>
            <a:off x="640080" y="3611880"/>
            <a:ext cx="9814255" cy="1371600"/>
          </a:xfrm>
          <a:prstGeom prst="rect">
            <a:avLst/>
          </a:prstGeom>
          <a:noFill/>
          <a:ln/>
        </p:spPr>
        <p:txBody>
          <a:bodyPr wrap="square" rtlCol="0"/>
          <a:lstStyle>
            <a:lvl1pPr algn="l" indent="0" marL="0">
              <a:buNone/>
              <a:defRPr lang="en-US" sz="1700" dirty="0">
                <a:solidFill>
                  <a:srgbClr val="C7D8E6"/>
                </a:solidFill>
              </a:defRPr>
            </a:lvl1pPr>
          </a:lstStyle>
          <a:p>
            <a:pPr algn="l" indent="0" marL="0">
              <a:buNone/>
            </a:pPr>
            <a:r>
              <a:rPr lang="en-US" sz="1700" dirty="0">
                <a:solidFill>
                  <a:srgbClr val="C7D8E6"/>
                </a:solidFill>
              </a:rPr>
              <a:t> </a:t>
            </a: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lstStyle>
            <a:lvl1pPr algn="l" indent="0" marL="0">
              <a:buNone/>
              <a:defRPr lang="en-US" sz="3000" b="1" dirty="0">
                <a:solidFill>
                  <a:srgbClr val="0B3C5D"/>
                </a:solidFill>
              </a:defRPr>
            </a:lvl1pPr>
          </a:lstStyle>
          <a:p>
            <a:pPr algn="l" indent="0" marL="0">
              <a:buNone/>
            </a:pPr>
            <a:r>
              <a:rPr lang="en-US" sz="3000" b="1" dirty="0">
                <a:solidFill>
                  <a:srgbClr val="0B3C5D"/>
                </a:solidFill>
              </a:rPr>
              <a:t> </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lstStyle>
            <a:lvl1pPr algn="l" indent="0" marL="0">
              <a:buNone/>
              <a:defRPr lang="en-US" sz="1400" dirty="0">
                <a:solidFill>
                  <a:srgbClr val="6B7280"/>
                </a:solidFill>
              </a:defRPr>
            </a:lvl1pPr>
          </a:lstStyle>
          <a:p>
            <a:pPr algn="l" indent="0" marL="0">
              <a:buNone/>
            </a:pPr>
            <a:r>
              <a:rPr lang="en-US" sz="1400" dirty="0">
                <a:solidFill>
                  <a:srgbClr val="6B7280"/>
                </a:solidFill>
              </a:rPr>
              <a:t> </a:t>
            </a:r>
            <a:endParaRPr lang="en-US" sz="1400" dirty="0"/>
          </a:p>
        </p:txBody>
      </p:sp>
      <p:sp>
        <p:nvSpPr>
          <p:cNvPr id="4" name="Text 0"/>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9AA5B1"/>
                </a:solidFill>
              </a:rPr>
              <a:t>CAMF - avance del articulo | octubre 2026</a:t>
            </a:r>
            <a:endParaRPr lang="en-US" sz="90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_OSCURO">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r>
              <a:rPr lang="en-US" sz="3000" b="1" dirty="0">
                <a:solidFill>
                  <a:srgbClr val="FFFFFF"/>
                </a:solidFill>
              </a:rPr>
              <a:t> </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lstStyle>
            <a:lvl1pPr algn="l" indent="0" marL="0">
              <a:buNone/>
              <a:defRPr lang="en-US" sz="1400" dirty="0">
                <a:solidFill>
                  <a:srgbClr val="A9C0D4"/>
                </a:solidFill>
              </a:defRPr>
            </a:lvl1pPr>
          </a:lstStyle>
          <a:p>
            <a:pPr algn="l" indent="0" marL="0">
              <a:buNone/>
            </a:pPr>
            <a:r>
              <a:rPr lang="en-US" sz="1400" dirty="0">
                <a:solidFill>
                  <a:srgbClr val="A9C0D4"/>
                </a:solidFill>
              </a:rPr>
              <a:t> </a:t>
            </a:r>
            <a:endParaRPr lang="en-US" sz="1400" dirty="0"/>
          </a:p>
        </p:txBody>
      </p:sp>
      <p:sp>
        <p:nvSpPr>
          <p:cNvPr id="4" name="Text 0"/>
          <p:cNvSpPr txBox="1"/>
          <p:nvPr/>
        </p:nvSpPr>
        <p:spPr>
          <a:xfrm>
            <a:off x="640080" y="6382512"/>
            <a:ext cx="5486400" cy="274320"/>
          </a:xfrm>
          <a:prstGeom prst="rect">
            <a:avLst/>
          </a:prstGeom>
          <a:noFill/>
          <a:ln/>
        </p:spPr>
        <p:txBody>
          <a:bodyPr wrap="square" lIns="0" tIns="0" rIns="0" bIns="0" rtlCol="0" anchor="ctr"/>
          <a:lstStyle/>
          <a:p>
            <a:pPr indent="0" marL="0">
              <a:buNone/>
            </a:pPr>
            <a:r>
              <a:rPr lang="en-US" sz="900" dirty="0">
                <a:solidFill>
                  <a:srgbClr val="6E8CA6"/>
                </a:solidFill>
              </a:rPr>
              <a:t>CAMF - avance del articulo | octubre 2026</a:t>
            </a:r>
            <a:endParaRPr lang="en-US" sz="90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8CA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148840"/>
            <a:ext cx="10911535" cy="1371600"/>
          </a:xfrm>
          <a:prstGeom prst="rect">
            <a:avLst/>
          </a:prstGeom>
          <a:noFill/>
          <a:ln/>
        </p:spPr>
        <p:txBody>
          <a:bodyPr wrap="square" rtlCol="0" anchor="b"/>
          <a:lstStyle/>
          <a:p>
            <a:pPr algn="l" indent="0" marL="0">
              <a:buNone/>
            </a:pPr>
            <a:r>
              <a:rPr lang="en-US" sz="4200" b="1" dirty="0">
                <a:solidFill>
                  <a:srgbClr val="FFFFFF"/>
                </a:solidFill>
              </a:rPr>
              <a:t>CAMF: avance del articulo</a:t>
            </a:r>
            <a:endParaRPr lang="en-US" sz="4200" dirty="0"/>
          </a:p>
        </p:txBody>
      </p:sp>
      <p:sp>
        <p:nvSpPr>
          <p:cNvPr id="3" name="Text 0"/>
          <p:cNvSpPr/>
          <p:nvPr>
            <p:ph idx="101" type="body" hasCustomPrompt="1"/>
          </p:nvPr>
        </p:nvSpPr>
        <p:spPr>
          <a:xfrm>
            <a:off x="640080" y="3611880"/>
            <a:ext cx="9814255" cy="1371600"/>
          </a:xfrm>
          <a:prstGeom prst="rect">
            <a:avLst/>
          </a:prstGeom>
          <a:noFill/>
          <a:ln/>
        </p:spPr>
        <p:txBody>
          <a:bodyPr wrap="square" rtlCol="0" anchor="t"/>
          <a:lstStyle/>
          <a:p>
            <a:pPr algn="l" indent="0" marL="0">
              <a:buNone/>
            </a:pPr>
            <a:r>
              <a:rPr lang="en-US" sz="1700" b="1" dirty="0">
                <a:solidFill>
                  <a:srgbClr val="FFFFFF"/>
                </a:solidFill>
              </a:rPr>
              <a:t>Conflict-Aware Multistream Fusion for Speech Emotion Recognition</a:t>
            </a:r>
            <a:endParaRPr lang="en-US" sz="1700" dirty="0"/>
          </a:p>
          <a:p>
            <a:pPr algn="l" indent="0" marL="0">
              <a:buNone/>
            </a:pPr>
            <a:r>
              <a:rPr lang="en-US" sz="1700" dirty="0">
                <a:solidFill>
                  <a:srgbClr val="C7D8E6"/>
                </a:solidFill>
              </a:rPr>
              <a:t>Que dijeron los revisores de CIARP 2026, que encontro la auditoria del codigo, y que es el articulo ahora</a:t>
            </a:r>
            <a:endParaRPr lang="en-US" sz="1700" dirty="0"/>
          </a:p>
        </p:txBody>
      </p:sp>
      <p:sp>
        <p:nvSpPr>
          <p:cNvPr id="4" name="Text 2"/>
          <p:cNvSpPr txBox="1"/>
          <p:nvPr/>
        </p:nvSpPr>
        <p:spPr>
          <a:xfrm>
            <a:off x="640080" y="5852160"/>
            <a:ext cx="7315200" cy="320040"/>
          </a:xfrm>
          <a:prstGeom prst="rect">
            <a:avLst/>
          </a:prstGeom>
          <a:noFill/>
          <a:ln/>
        </p:spPr>
        <p:txBody>
          <a:bodyPr wrap="square" lIns="0" tIns="0" rIns="0" bIns="0" rtlCol="0" anchor="ctr"/>
          <a:lstStyle/>
          <a:p>
            <a:pPr indent="0" marL="0">
              <a:buNone/>
            </a:pPr>
            <a:r>
              <a:rPr lang="en-US" sz="1300" dirty="0">
                <a:solidFill>
                  <a:srgbClr val="8FB0C7"/>
                </a:solidFill>
              </a:rPr>
              <a:t>Jorge Luis Jorrin Coz   ·   ESIME   ·   octubre 2026</a:t>
            </a:r>
            <a:endParaRPr lang="en-US" sz="1300" dirty="0"/>
          </a:p>
        </p:txBody>
      </p:sp>
      <p:sp>
        <p:nvSpPr>
          <p:cNvPr id="5" name="pastilla_1"/>
          <p:cNvSpPr/>
          <p:nvPr/>
        </p:nvSpPr>
        <p:spPr>
          <a:xfrm>
            <a:off x="640080" y="1600200"/>
            <a:ext cx="2651760" cy="256032"/>
          </a:xfrm>
          <a:prstGeom prst="roundRect">
            <a:avLst>
              <a:gd name="adj" fmla="val 50000"/>
            </a:avLst>
          </a:prstGeom>
          <a:solidFill>
            <a:srgbClr val="8C2F39"/>
          </a:solidFill>
          <a:ln w="12700">
            <a:solidFill>
              <a:srgbClr val="8C2F39"/>
            </a:solidFill>
            <a:prstDash val="solid"/>
          </a:ln>
        </p:spPr>
      </p:sp>
      <p:sp>
        <p:nvSpPr>
          <p:cNvPr id="6" name="Text 4"/>
          <p:cNvSpPr txBox="1"/>
          <p:nvPr/>
        </p:nvSpPr>
        <p:spPr>
          <a:xfrm>
            <a:off x="640080" y="1600200"/>
            <a:ext cx="2651760" cy="256032"/>
          </a:xfrm>
          <a:prstGeom prst="rect">
            <a:avLst/>
          </a:prstGeom>
          <a:noFill/>
          <a:ln/>
        </p:spPr>
        <p:txBody>
          <a:bodyPr wrap="square" lIns="0" tIns="0" rIns="0" bIns="0" rtlCol="0" anchor="ctr"/>
          <a:lstStyle/>
          <a:p>
            <a:pPr algn="ctr" indent="0" marL="0">
              <a:buNone/>
            </a:pPr>
            <a:r>
              <a:rPr lang="en-US" sz="1000" b="1" dirty="0">
                <a:solidFill>
                  <a:srgbClr val="FFFFFF"/>
                </a:solidFill>
              </a:rPr>
              <a:t>RECHAZADO EN CIARP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El dictamen: dos aceptaciones debiles y un rechazo</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Submission 8, CIARP 2026. Ningun revisor cuestiono la idea; los tres cuestionaron la evidencia.</a:t>
            </a:r>
            <a:endParaRPr lang="en-US" sz="1400" dirty="0"/>
          </a:p>
        </p:txBody>
      </p:sp>
      <p:sp>
        <p:nvSpPr>
          <p:cNvPr id="4" name="tarjeta_2"/>
          <p:cNvSpPr/>
          <p:nvPr/>
        </p:nvSpPr>
        <p:spPr>
          <a:xfrm>
            <a:off x="640080" y="1783080"/>
            <a:ext cx="3502152" cy="3246120"/>
          </a:xfrm>
          <a:prstGeom prst="roundRect">
            <a:avLst>
              <a:gd name="adj" fmla="val 1690"/>
            </a:avLst>
          </a:prstGeom>
          <a:solidFill>
            <a:srgbClr val="FFFFFF"/>
          </a:solidFill>
          <a:ln w="12700">
            <a:solidFill>
              <a:srgbClr val="DCE3EB"/>
            </a:solidFill>
            <a:prstDash val="solid"/>
          </a:ln>
        </p:spPr>
      </p:sp>
      <p:sp>
        <p:nvSpPr>
          <p:cNvPr id="5" name="pastilla_3"/>
          <p:cNvSpPr/>
          <p:nvPr/>
        </p:nvSpPr>
        <p:spPr>
          <a:xfrm>
            <a:off x="896112" y="2011680"/>
            <a:ext cx="1828800" cy="256032"/>
          </a:xfrm>
          <a:prstGeom prst="roundRect">
            <a:avLst>
              <a:gd name="adj" fmla="val 50000"/>
            </a:avLst>
          </a:prstGeom>
          <a:solidFill>
            <a:srgbClr val="1C7293"/>
          </a:solidFill>
          <a:ln w="12700">
            <a:solidFill>
              <a:srgbClr val="1C7293"/>
            </a:solidFill>
            <a:prstDash val="solid"/>
          </a:ln>
        </p:spPr>
      </p:sp>
      <p:sp>
        <p:nvSpPr>
          <p:cNvPr id="6" name="Text 4"/>
          <p:cNvSpPr txBox="1"/>
          <p:nvPr/>
        </p:nvSpPr>
        <p:spPr>
          <a:xfrm>
            <a:off x="896112" y="2011680"/>
            <a:ext cx="1828800" cy="256032"/>
          </a:xfrm>
          <a:prstGeom prst="rect">
            <a:avLst/>
          </a:prstGeom>
          <a:noFill/>
          <a:ln/>
        </p:spPr>
        <p:txBody>
          <a:bodyPr wrap="square" lIns="0" tIns="0" rIns="0" bIns="0" rtlCol="0" anchor="ctr"/>
          <a:lstStyle/>
          <a:p>
            <a:pPr algn="ctr" indent="0" marL="0">
              <a:buNone/>
            </a:pPr>
            <a:r>
              <a:rPr lang="en-US" sz="1000" b="1" dirty="0">
                <a:solidFill>
                  <a:srgbClr val="FFFFFF"/>
                </a:solidFill>
              </a:rPr>
              <a:t>+1  aceptacion debil</a:t>
            </a:r>
            <a:endParaRPr lang="en-US" sz="1000" dirty="0"/>
          </a:p>
        </p:txBody>
      </p:sp>
      <p:sp>
        <p:nvSpPr>
          <p:cNvPr id="7" name="Text 5"/>
          <p:cNvSpPr txBox="1"/>
          <p:nvPr/>
        </p:nvSpPr>
        <p:spPr>
          <a:xfrm>
            <a:off x="896112" y="2359152"/>
            <a:ext cx="3017520" cy="365760"/>
          </a:xfrm>
          <a:prstGeom prst="rect">
            <a:avLst/>
          </a:prstGeom>
          <a:noFill/>
          <a:ln/>
        </p:spPr>
        <p:txBody>
          <a:bodyPr wrap="square" lIns="0" tIns="0" rIns="0" bIns="0" rtlCol="0" anchor="ctr"/>
          <a:lstStyle/>
          <a:p>
            <a:pPr indent="0" marL="0">
              <a:buNone/>
            </a:pPr>
            <a:r>
              <a:rPr lang="en-US" sz="2000" b="1" dirty="0">
                <a:solidFill>
                  <a:srgbClr val="0B3C5D"/>
                </a:solidFill>
              </a:rPr>
              <a:t>Revisor 1</a:t>
            </a:r>
            <a:endParaRPr lang="en-US" sz="2000" dirty="0"/>
          </a:p>
        </p:txBody>
      </p:sp>
      <p:sp>
        <p:nvSpPr>
          <p:cNvPr id="8" name="Text 6"/>
          <p:cNvSpPr txBox="1"/>
          <p:nvPr/>
        </p:nvSpPr>
        <p:spPr>
          <a:xfrm>
            <a:off x="896112" y="2743200"/>
            <a:ext cx="3017520" cy="777240"/>
          </a:xfrm>
          <a:prstGeom prst="rect">
            <a:avLst/>
          </a:prstGeom>
          <a:noFill/>
          <a:ln/>
        </p:spPr>
        <p:txBody>
          <a:bodyPr wrap="square" lIns="0" tIns="0" rIns="0" bIns="0" rtlCol="0" anchor="ctr"/>
          <a:lstStyle/>
          <a:p>
            <a:pPr indent="0" marL="0">
              <a:buNone/>
            </a:pPr>
            <a:r>
              <a:rPr lang="en-US" sz="1300" i="1" dirty="0">
                <a:solidFill>
                  <a:srgbClr val="2F3A4D"/>
                </a:solidFill>
              </a:rPr>
              <a:t>“Under-powered validation and citation errors”</a:t>
            </a:r>
            <a:endParaRPr lang="en-US" sz="1300" dirty="0"/>
          </a:p>
        </p:txBody>
      </p:sp>
      <p:sp>
        <p:nvSpPr>
          <p:cNvPr id="9" name="Text 7"/>
          <p:cNvSpPr txBox="1"/>
          <p:nvPr/>
        </p:nvSpPr>
        <p:spPr>
          <a:xfrm>
            <a:off x="896112" y="361188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Validacion empirica  2/5</a:t>
            </a:r>
            <a:endParaRPr lang="en-US" sz="1200" dirty="0"/>
          </a:p>
          <a:p>
            <a:pPr indent="0" marL="0">
              <a:lnSpc>
                <a:spcPts val="1600"/>
              </a:lnSpc>
              <a:buNone/>
            </a:pPr>
            <a:r>
              <a:rPr lang="en-US" sz="1200" dirty="0">
                <a:solidFill>
                  <a:srgbClr val="6B7280"/>
                </a:solidFill>
              </a:rPr>
              <a:t>Calidad tecnica de resultados  2/5</a:t>
            </a:r>
            <a:endParaRPr lang="en-US" sz="1200" dirty="0"/>
          </a:p>
          <a:p>
            <a:pPr indent="0" marL="0">
              <a:lnSpc>
                <a:spcPts val="1600"/>
              </a:lnSpc>
              <a:buNone/>
            </a:pPr>
            <a:r>
              <a:rPr lang="en-US" sz="1200" dirty="0">
                <a:solidFill>
                  <a:srgbClr val="6B7280"/>
                </a:solidFill>
              </a:rPr>
              <a:t>Relevancia para CIARP  5/5</a:t>
            </a:r>
            <a:endParaRPr lang="en-US" sz="1200" dirty="0"/>
          </a:p>
        </p:txBody>
      </p:sp>
      <p:sp>
        <p:nvSpPr>
          <p:cNvPr id="10" name="tarjeta_4"/>
          <p:cNvSpPr/>
          <p:nvPr/>
        </p:nvSpPr>
        <p:spPr>
          <a:xfrm>
            <a:off x="4416552" y="1783080"/>
            <a:ext cx="3502152" cy="3246120"/>
          </a:xfrm>
          <a:prstGeom prst="roundRect">
            <a:avLst>
              <a:gd name="adj" fmla="val 1690"/>
            </a:avLst>
          </a:prstGeom>
          <a:solidFill>
            <a:srgbClr val="FFFFFF"/>
          </a:solidFill>
          <a:ln w="12700">
            <a:solidFill>
              <a:srgbClr val="DCE3EB"/>
            </a:solidFill>
            <a:prstDash val="solid"/>
          </a:ln>
        </p:spPr>
      </p:sp>
      <p:sp>
        <p:nvSpPr>
          <p:cNvPr id="11" name="pastilla_5"/>
          <p:cNvSpPr/>
          <p:nvPr/>
        </p:nvSpPr>
        <p:spPr>
          <a:xfrm>
            <a:off x="4672584" y="2011680"/>
            <a:ext cx="1828800" cy="256032"/>
          </a:xfrm>
          <a:prstGeom prst="roundRect">
            <a:avLst>
              <a:gd name="adj" fmla="val 50000"/>
            </a:avLst>
          </a:prstGeom>
          <a:solidFill>
            <a:srgbClr val="1C7293"/>
          </a:solidFill>
          <a:ln w="12700">
            <a:solidFill>
              <a:srgbClr val="1C7293"/>
            </a:solidFill>
            <a:prstDash val="solid"/>
          </a:ln>
        </p:spPr>
      </p:sp>
      <p:sp>
        <p:nvSpPr>
          <p:cNvPr id="12" name="Text 10"/>
          <p:cNvSpPr txBox="1"/>
          <p:nvPr/>
        </p:nvSpPr>
        <p:spPr>
          <a:xfrm>
            <a:off x="4672584" y="2011680"/>
            <a:ext cx="1828800" cy="256032"/>
          </a:xfrm>
          <a:prstGeom prst="rect">
            <a:avLst/>
          </a:prstGeom>
          <a:noFill/>
          <a:ln/>
        </p:spPr>
        <p:txBody>
          <a:bodyPr wrap="square" lIns="0" tIns="0" rIns="0" bIns="0" rtlCol="0" anchor="ctr"/>
          <a:lstStyle/>
          <a:p>
            <a:pPr algn="ctr" indent="0" marL="0">
              <a:buNone/>
            </a:pPr>
            <a:r>
              <a:rPr lang="en-US" sz="1000" b="1" dirty="0">
                <a:solidFill>
                  <a:srgbClr val="FFFFFF"/>
                </a:solidFill>
              </a:rPr>
              <a:t>+1  aceptacion debil</a:t>
            </a:r>
            <a:endParaRPr lang="en-US" sz="1000" dirty="0"/>
          </a:p>
        </p:txBody>
      </p:sp>
      <p:sp>
        <p:nvSpPr>
          <p:cNvPr id="13" name="Text 11"/>
          <p:cNvSpPr txBox="1"/>
          <p:nvPr/>
        </p:nvSpPr>
        <p:spPr>
          <a:xfrm>
            <a:off x="4672584" y="2359152"/>
            <a:ext cx="3017520" cy="365760"/>
          </a:xfrm>
          <a:prstGeom prst="rect">
            <a:avLst/>
          </a:prstGeom>
          <a:noFill/>
          <a:ln/>
        </p:spPr>
        <p:txBody>
          <a:bodyPr wrap="square" lIns="0" tIns="0" rIns="0" bIns="0" rtlCol="0" anchor="ctr"/>
          <a:lstStyle/>
          <a:p>
            <a:pPr indent="0" marL="0">
              <a:buNone/>
            </a:pPr>
            <a:r>
              <a:rPr lang="en-US" sz="2000" b="1" dirty="0">
                <a:solidFill>
                  <a:srgbClr val="0B3C5D"/>
                </a:solidFill>
              </a:rPr>
              <a:t>Revisor 2</a:t>
            </a:r>
            <a:endParaRPr lang="en-US" sz="2000" dirty="0"/>
          </a:p>
        </p:txBody>
      </p:sp>
      <p:sp>
        <p:nvSpPr>
          <p:cNvPr id="14" name="Text 12"/>
          <p:cNvSpPr txBox="1"/>
          <p:nvPr/>
        </p:nvSpPr>
        <p:spPr>
          <a:xfrm>
            <a:off x="4672584" y="2743200"/>
            <a:ext cx="3017520" cy="777240"/>
          </a:xfrm>
          <a:prstGeom prst="rect">
            <a:avLst/>
          </a:prstGeom>
          <a:noFill/>
          <a:ln/>
        </p:spPr>
        <p:txBody>
          <a:bodyPr wrap="square" lIns="0" tIns="0" rIns="0" bIns="0" rtlCol="0" anchor="ctr"/>
          <a:lstStyle/>
          <a:p>
            <a:pPr indent="0" marL="0">
              <a:buNone/>
            </a:pPr>
            <a:r>
              <a:rPr lang="en-US" sz="1300" i="1" dirty="0">
                <a:solidFill>
                  <a:srgbClr val="2F3A4D"/>
                </a:solidFill>
              </a:rPr>
              <a:t>“Fundamentally flawed in its numbers”</a:t>
            </a:r>
            <a:endParaRPr lang="en-US" sz="1300" dirty="0"/>
          </a:p>
        </p:txBody>
      </p:sp>
      <p:sp>
        <p:nvSpPr>
          <p:cNvPr id="15" name="Text 13"/>
          <p:cNvSpPr txBox="1"/>
          <p:nvPr/>
        </p:nvSpPr>
        <p:spPr>
          <a:xfrm>
            <a:off x="4672584" y="361188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La matriz de confusion no genera</a:t>
            </a:r>
            <a:endParaRPr lang="en-US" sz="1200" dirty="0"/>
          </a:p>
          <a:p>
            <a:pPr indent="0" marL="0">
              <a:lnSpc>
                <a:spcPts val="1600"/>
              </a:lnSpc>
              <a:buNone/>
            </a:pPr>
            <a:r>
              <a:rPr lang="en-US" sz="1200" dirty="0">
                <a:solidFill>
                  <a:srgbClr val="6B7280"/>
                </a:solidFill>
              </a:rPr>
              <a:t>la exactitud ponderada reportada</a:t>
            </a:r>
            <a:endParaRPr lang="en-US" sz="1200" dirty="0"/>
          </a:p>
          <a:p>
            <a:pPr indent="0" marL="0">
              <a:lnSpc>
                <a:spcPts val="1600"/>
              </a:lnSpc>
              <a:buNone/>
            </a:pPr>
            <a:r>
              <a:rPr lang="en-US" sz="1200" dirty="0">
                <a:solidFill>
                  <a:srgbClr val="6B7280"/>
                </a:solidFill>
              </a:rPr>
              <a:t>ni el F1 de angry</a:t>
            </a:r>
            <a:endParaRPr lang="en-US" sz="1200" dirty="0"/>
          </a:p>
        </p:txBody>
      </p:sp>
      <p:sp>
        <p:nvSpPr>
          <p:cNvPr id="16" name="tarjeta_6"/>
          <p:cNvSpPr/>
          <p:nvPr/>
        </p:nvSpPr>
        <p:spPr>
          <a:xfrm>
            <a:off x="8193024" y="1783080"/>
            <a:ext cx="3502152" cy="3246120"/>
          </a:xfrm>
          <a:prstGeom prst="roundRect">
            <a:avLst>
              <a:gd name="adj" fmla="val 1690"/>
            </a:avLst>
          </a:prstGeom>
          <a:solidFill>
            <a:srgbClr val="FFFFFF"/>
          </a:solidFill>
          <a:ln w="12700">
            <a:solidFill>
              <a:srgbClr val="DCE3EB"/>
            </a:solidFill>
            <a:prstDash val="solid"/>
          </a:ln>
        </p:spPr>
      </p:sp>
      <p:sp>
        <p:nvSpPr>
          <p:cNvPr id="17" name="pastilla_7"/>
          <p:cNvSpPr/>
          <p:nvPr/>
        </p:nvSpPr>
        <p:spPr>
          <a:xfrm>
            <a:off x="8449056" y="2011680"/>
            <a:ext cx="1828800" cy="256032"/>
          </a:xfrm>
          <a:prstGeom prst="roundRect">
            <a:avLst>
              <a:gd name="adj" fmla="val 50000"/>
            </a:avLst>
          </a:prstGeom>
          <a:solidFill>
            <a:srgbClr val="8C2F39"/>
          </a:solidFill>
          <a:ln w="12700">
            <a:solidFill>
              <a:srgbClr val="8C2F39"/>
            </a:solidFill>
            <a:prstDash val="solid"/>
          </a:ln>
        </p:spPr>
      </p:sp>
      <p:sp>
        <p:nvSpPr>
          <p:cNvPr id="18" name="Text 16"/>
          <p:cNvSpPr txBox="1"/>
          <p:nvPr/>
        </p:nvSpPr>
        <p:spPr>
          <a:xfrm>
            <a:off x="8449056" y="2011680"/>
            <a:ext cx="1828800" cy="256032"/>
          </a:xfrm>
          <a:prstGeom prst="rect">
            <a:avLst/>
          </a:prstGeom>
          <a:noFill/>
          <a:ln/>
        </p:spPr>
        <p:txBody>
          <a:bodyPr wrap="square" lIns="0" tIns="0" rIns="0" bIns="0" rtlCol="0" anchor="ctr"/>
          <a:lstStyle/>
          <a:p>
            <a:pPr algn="ctr" indent="0" marL="0">
              <a:buNone/>
            </a:pPr>
            <a:r>
              <a:rPr lang="en-US" sz="1000" b="1" dirty="0">
                <a:solidFill>
                  <a:srgbClr val="FFFFFF"/>
                </a:solidFill>
              </a:rPr>
              <a:t>−1  rechazo debil</a:t>
            </a:r>
            <a:endParaRPr lang="en-US" sz="1000" dirty="0"/>
          </a:p>
        </p:txBody>
      </p:sp>
      <p:sp>
        <p:nvSpPr>
          <p:cNvPr id="19" name="Text 17"/>
          <p:cNvSpPr txBox="1"/>
          <p:nvPr/>
        </p:nvSpPr>
        <p:spPr>
          <a:xfrm>
            <a:off x="8449056" y="2359152"/>
            <a:ext cx="3017520" cy="365760"/>
          </a:xfrm>
          <a:prstGeom prst="rect">
            <a:avLst/>
          </a:prstGeom>
          <a:noFill/>
          <a:ln/>
        </p:spPr>
        <p:txBody>
          <a:bodyPr wrap="square" lIns="0" tIns="0" rIns="0" bIns="0" rtlCol="0" anchor="ctr"/>
          <a:lstStyle/>
          <a:p>
            <a:pPr indent="0" marL="0">
              <a:buNone/>
            </a:pPr>
            <a:r>
              <a:rPr lang="en-US" sz="2000" b="1" dirty="0">
                <a:solidFill>
                  <a:srgbClr val="0B3C5D"/>
                </a:solidFill>
              </a:rPr>
              <a:t>Revisor 3</a:t>
            </a:r>
            <a:endParaRPr lang="en-US" sz="2000" dirty="0"/>
          </a:p>
        </p:txBody>
      </p:sp>
      <p:sp>
        <p:nvSpPr>
          <p:cNvPr id="20" name="Text 18"/>
          <p:cNvSpPr txBox="1"/>
          <p:nvPr/>
        </p:nvSpPr>
        <p:spPr>
          <a:xfrm>
            <a:off x="8449056" y="2743200"/>
            <a:ext cx="3017520" cy="777240"/>
          </a:xfrm>
          <a:prstGeom prst="rect">
            <a:avLst/>
          </a:prstGeom>
          <a:noFill/>
          <a:ln/>
        </p:spPr>
        <p:txBody>
          <a:bodyPr wrap="square" lIns="0" tIns="0" rIns="0" bIns="0" rtlCol="0" anchor="ctr"/>
          <a:lstStyle/>
          <a:p>
            <a:pPr indent="0" marL="0">
              <a:buNone/>
            </a:pPr>
            <a:r>
              <a:rPr lang="en-US" sz="1300" i="1" dirty="0">
                <a:solidFill>
                  <a:srgbClr val="2F3A4D"/>
                </a:solidFill>
              </a:rPr>
              <a:t>“Not really comparable with SOTA”</a:t>
            </a:r>
            <a:endParaRPr lang="en-US" sz="1300" dirty="0"/>
          </a:p>
        </p:txBody>
      </p:sp>
      <p:sp>
        <p:nvSpPr>
          <p:cNvPr id="21" name="Text 19"/>
          <p:cNvSpPr txBox="1"/>
          <p:nvPr/>
        </p:nvSpPr>
        <p:spPr>
          <a:xfrm>
            <a:off x="8449056" y="361188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6B7280"/>
                </a:solidFill>
              </a:rPr>
              <a:t>Validacion empirica  2/5</a:t>
            </a:r>
            <a:endParaRPr lang="en-US" sz="1200" dirty="0"/>
          </a:p>
          <a:p>
            <a:pPr indent="0" marL="0">
              <a:lnSpc>
                <a:spcPts val="1600"/>
              </a:lnSpc>
              <a:buNone/>
            </a:pPr>
            <a:r>
              <a:rPr lang="en-US" sz="1200" dirty="0">
                <a:solidFill>
                  <a:srgbClr val="6B7280"/>
                </a:solidFill>
              </a:rPr>
              <a:t>Originalidad  4/5</a:t>
            </a:r>
            <a:endParaRPr lang="en-US" sz="1200" dirty="0"/>
          </a:p>
          <a:p>
            <a:pPr indent="0" marL="0">
              <a:lnSpc>
                <a:spcPts val="1600"/>
              </a:lnSpc>
              <a:buNone/>
            </a:pPr>
            <a:r>
              <a:rPr lang="en-US" sz="1200" dirty="0">
                <a:solidFill>
                  <a:srgbClr val="6B7280"/>
                </a:solidFill>
              </a:rPr>
              <a:t>Protocolo no estandar</a:t>
            </a:r>
            <a:endParaRPr lang="en-US" sz="1200" dirty="0"/>
          </a:p>
        </p:txBody>
      </p:sp>
      <p:sp>
        <p:nvSpPr>
          <p:cNvPr id="22" name="tarjeta_8"/>
          <p:cNvSpPr/>
          <p:nvPr/>
        </p:nvSpPr>
        <p:spPr>
          <a:xfrm>
            <a:off x="640080" y="5230368"/>
            <a:ext cx="10911535" cy="749808"/>
          </a:xfrm>
          <a:prstGeom prst="roundRect">
            <a:avLst>
              <a:gd name="adj" fmla="val 7317"/>
            </a:avLst>
          </a:prstGeom>
          <a:solidFill>
            <a:srgbClr val="EEF2F7"/>
          </a:solidFill>
          <a:ln w="12700">
            <a:solidFill>
              <a:srgbClr val="EEF2F7"/>
            </a:solidFill>
            <a:prstDash val="solid"/>
          </a:ln>
        </p:spPr>
      </p:sp>
      <p:sp>
        <p:nvSpPr>
          <p:cNvPr id="23" name="Text 21"/>
          <p:cNvSpPr txBox="1"/>
          <p:nvPr/>
        </p:nvSpPr>
        <p:spPr>
          <a:xfrm>
            <a:off x="914400" y="5230368"/>
            <a:ext cx="10362895" cy="749808"/>
          </a:xfrm>
          <a:prstGeom prst="rect">
            <a:avLst/>
          </a:prstGeom>
          <a:noFill/>
          <a:ln/>
        </p:spPr>
        <p:txBody>
          <a:bodyPr wrap="square" lIns="0" tIns="0" rIns="0" bIns="0" rtlCol="0" anchor="ctr"/>
          <a:lstStyle/>
          <a:p>
            <a:pPr indent="0" marL="0">
              <a:buNone/>
            </a:pPr>
            <a:r>
              <a:rPr lang="en-US" sz="1400" b="1" dirty="0">
                <a:solidFill>
                  <a:srgbClr val="0B3C5D"/>
                </a:solidFill>
              </a:rPr>
              <a:t>Lo importante: </a:t>
            </a:r>
            <a:pPr indent="0" marL="0">
              <a:buNone/>
            </a:pPr>
            <a:r>
              <a:rPr lang="en-US" sz="1400" dirty="0">
                <a:solidFill>
                  <a:srgbClr val="2F3A4D"/>
                </a:solidFill>
              </a:rPr>
              <a:t>los tres puntuaron la idea entre 3 y 4, y dos de los tres pusieron </a:t>
            </a:r>
            <a:pPr indent="0" marL="0">
              <a:buNone/>
            </a:pPr>
            <a:r>
              <a:rPr lang="en-US" sz="1400" b="1" dirty="0">
                <a:solidFill>
                  <a:srgbClr val="8C2F39"/>
                </a:solidFill>
              </a:rPr>
              <a:t>2/5 en validacion empirica</a:t>
            </a:r>
            <a:pPr indent="0" marL="0">
              <a:buNone/>
            </a:pPr>
            <a:r>
              <a:rPr lang="en-US" sz="1400" dirty="0">
                <a:solidFill>
                  <a:srgbClr val="2F3A4D"/>
                </a:solidFill>
              </a:rPr>
              <a:t>. El problema nunca fue el concepto.</a:t>
            </a:r>
            <a:endParaRPr lang="en-US" sz="140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Que elogiaron y que objetaron</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Conviene separarlo, porque lo elogiado define que conservar y lo objetado define el plan de trabajo.</a:t>
            </a:r>
            <a:endParaRPr lang="en-US" sz="1400" dirty="0"/>
          </a:p>
        </p:txBody>
      </p:sp>
      <p:sp>
        <p:nvSpPr>
          <p:cNvPr id="4" name="tarjeta_9"/>
          <p:cNvSpPr/>
          <p:nvPr/>
        </p:nvSpPr>
        <p:spPr>
          <a:xfrm>
            <a:off x="640080" y="1783080"/>
            <a:ext cx="5394960" cy="4206240"/>
          </a:xfrm>
          <a:prstGeom prst="roundRect">
            <a:avLst>
              <a:gd name="adj" fmla="val 1304"/>
            </a:avLst>
          </a:prstGeom>
          <a:solidFill>
            <a:srgbClr val="FFFFFF"/>
          </a:solidFill>
          <a:ln w="12700">
            <a:solidFill>
              <a:srgbClr val="CFE0D6"/>
            </a:solidFill>
            <a:prstDash val="solid"/>
          </a:ln>
        </p:spPr>
      </p:sp>
      <p:sp>
        <p:nvSpPr>
          <p:cNvPr id="5" name="pastilla_10"/>
          <p:cNvSpPr/>
          <p:nvPr/>
        </p:nvSpPr>
        <p:spPr>
          <a:xfrm>
            <a:off x="914400" y="2011680"/>
            <a:ext cx="2103120" cy="256032"/>
          </a:xfrm>
          <a:prstGeom prst="roundRect">
            <a:avLst>
              <a:gd name="adj" fmla="val 50000"/>
            </a:avLst>
          </a:prstGeom>
          <a:solidFill>
            <a:srgbClr val="2E7D5B"/>
          </a:solidFill>
          <a:ln w="12700">
            <a:solidFill>
              <a:srgbClr val="2E7D5B"/>
            </a:solidFill>
            <a:prstDash val="solid"/>
          </a:ln>
        </p:spPr>
      </p:sp>
      <p:sp>
        <p:nvSpPr>
          <p:cNvPr id="6" name="Text 4"/>
          <p:cNvSpPr txBox="1"/>
          <p:nvPr/>
        </p:nvSpPr>
        <p:spPr>
          <a:xfrm>
            <a:off x="914400" y="2011680"/>
            <a:ext cx="2103120" cy="256032"/>
          </a:xfrm>
          <a:prstGeom prst="rect">
            <a:avLst/>
          </a:prstGeom>
          <a:noFill/>
          <a:ln/>
        </p:spPr>
        <p:txBody>
          <a:bodyPr wrap="square" lIns="0" tIns="0" rIns="0" bIns="0" rtlCol="0" anchor="ctr"/>
          <a:lstStyle/>
          <a:p>
            <a:pPr algn="ctr" indent="0" marL="0">
              <a:buNone/>
            </a:pPr>
            <a:r>
              <a:rPr lang="en-US" sz="1000" b="1" dirty="0">
                <a:solidFill>
                  <a:srgbClr val="FFFFFF"/>
                </a:solidFill>
              </a:rPr>
              <a:t>LO QUE ELOGIARON</a:t>
            </a:r>
            <a:endParaRPr lang="en-US" sz="1000" dirty="0"/>
          </a:p>
        </p:txBody>
      </p:sp>
      <p:sp>
        <p:nvSpPr>
          <p:cNvPr id="7" name="Text 5"/>
          <p:cNvSpPr txBox="1"/>
          <p:nvPr/>
        </p:nvSpPr>
        <p:spPr>
          <a:xfrm>
            <a:off x="914400" y="2395728"/>
            <a:ext cx="4846320" cy="3474720"/>
          </a:xfrm>
          <a:prstGeom prst="rect">
            <a:avLst/>
          </a:prstGeom>
          <a:noFill/>
          <a:ln/>
        </p:spPr>
        <p:txBody>
          <a:bodyPr wrap="square" lIns="0" tIns="0" rIns="0" bIns="0" rtlCol="0" anchor="ctr"/>
          <a:lstStyle/>
          <a:p>
            <a:pPr indent="0" marL="0">
              <a:lnSpc>
                <a:spcPts val="1600"/>
              </a:lnSpc>
              <a:buNone/>
            </a:pPr>
            <a:r>
              <a:rPr lang="en-US" sz="1250" b="1" dirty="0">
                <a:solidFill>
                  <a:srgbClr val="0B3C5D"/>
                </a:solidFill>
              </a:rPr>
              <a:t>Vista dual del audio</a:t>
            </a:r>
            <a:endParaRPr lang="en-US" sz="1250" dirty="0"/>
          </a:p>
          <a:p>
            <a:pPr indent="0" marL="0">
              <a:lnSpc>
                <a:spcPts val="1600"/>
              </a:lnSpc>
              <a:buNone/>
            </a:pPr>
            <a:r>
              <a:rPr lang="en-US" sz="1250" dirty="0">
                <a:solidFill>
                  <a:srgbClr val="2F3A4D"/>
                </a:solidFill>
              </a:rPr>
              <a:t>Tratar el espectrograma log-mel como una vista complementaria del mismo audio ya codificado por el SSL, no como una entrada rival. R1 y R3 la elogiaron por separado.</a:t>
            </a:r>
            <a:endParaRPr lang="en-US" sz="1250" dirty="0"/>
          </a:p>
          <a:p>
            <a:pPr indent="0" marL="0">
              <a:lnSpc>
                <a:spcPts val="1600"/>
              </a:lnSpc>
              <a:buNone/>
            </a:pPr>
            <a:endParaRPr lang="en-US" sz="1250" dirty="0"/>
          </a:p>
          <a:p>
            <a:pPr indent="0" marL="0">
              <a:lnSpc>
                <a:spcPts val="1600"/>
              </a:lnSpc>
              <a:buNone/>
            </a:pPr>
            <a:r>
              <a:rPr lang="en-US" sz="1250" b="1" dirty="0">
                <a:solidFill>
                  <a:srgbClr val="0B3C5D"/>
                </a:solidFill>
              </a:rPr>
              <a:t>SpeechCue como inyeccion de prosodia</a:t>
            </a:r>
            <a:endParaRPr lang="en-US" sz="1250" dirty="0"/>
          </a:p>
          <a:p>
            <a:pPr indent="0" marL="0">
              <a:lnSpc>
                <a:spcPts val="1600"/>
              </a:lnSpc>
              <a:buNone/>
            </a:pPr>
            <a:r>
              <a:rPr lang="en-US" sz="1250" dirty="0">
                <a:solidFill>
                  <a:srgbClr val="2F3A4D"/>
                </a:solidFill>
              </a:rPr>
              <a:t>Eficiente en parametros, mantiene la tokenizacion intacta y es inspeccionable (R1).</a:t>
            </a:r>
            <a:endParaRPr lang="en-US" sz="1250" dirty="0"/>
          </a:p>
          <a:p>
            <a:pPr indent="0" marL="0">
              <a:lnSpc>
                <a:spcPts val="1600"/>
              </a:lnSpc>
              <a:buNone/>
            </a:pPr>
            <a:endParaRPr lang="en-US" sz="1250" dirty="0"/>
          </a:p>
          <a:p>
            <a:pPr indent="0" marL="0">
              <a:lnSpc>
                <a:spcPts val="1600"/>
              </a:lnSpc>
              <a:buNone/>
            </a:pPr>
            <a:r>
              <a:rPr lang="en-US" sz="1250" b="1" dirty="0">
                <a:solidFill>
                  <a:srgbClr val="0B3C5D"/>
                </a:solidFill>
              </a:rPr>
              <a:t>Transparencia del reporte</a:t>
            </a:r>
            <a:endParaRPr lang="en-US" sz="1250" dirty="0"/>
          </a:p>
          <a:p>
            <a:pPr indent="0" marL="0">
              <a:lnSpc>
                <a:spcPts val="1600"/>
              </a:lnSpc>
              <a:buNone/>
            </a:pPr>
            <a:r>
              <a:rPr lang="en-US" sz="1250" dirty="0">
                <a:solidFill>
                  <a:srgbClr val="2F3A4D"/>
                </a:solidFill>
              </a:rPr>
              <a:t>“The authors are refreshingly candid about their limitations”. La caracterizacion de la compuerta se valoro por no ser una caja negra, y el detalle de implementacion por hacer el trabajo reproducible.</a:t>
            </a:r>
            <a:endParaRPr lang="en-US" sz="1250" dirty="0"/>
          </a:p>
        </p:txBody>
      </p:sp>
      <p:sp>
        <p:nvSpPr>
          <p:cNvPr id="8" name="tarjeta_11"/>
          <p:cNvSpPr/>
          <p:nvPr/>
        </p:nvSpPr>
        <p:spPr>
          <a:xfrm>
            <a:off x="6236208" y="1783080"/>
            <a:ext cx="5394960" cy="4206240"/>
          </a:xfrm>
          <a:prstGeom prst="roundRect">
            <a:avLst>
              <a:gd name="adj" fmla="val 1304"/>
            </a:avLst>
          </a:prstGeom>
          <a:solidFill>
            <a:srgbClr val="FFFFFF"/>
          </a:solidFill>
          <a:ln w="12700">
            <a:solidFill>
              <a:srgbClr val="E8CDD0"/>
            </a:solidFill>
            <a:prstDash val="solid"/>
          </a:ln>
        </p:spPr>
      </p:sp>
      <p:sp>
        <p:nvSpPr>
          <p:cNvPr id="9" name="pastilla_12"/>
          <p:cNvSpPr/>
          <p:nvPr/>
        </p:nvSpPr>
        <p:spPr>
          <a:xfrm>
            <a:off x="6510528" y="2011680"/>
            <a:ext cx="2103120" cy="256032"/>
          </a:xfrm>
          <a:prstGeom prst="roundRect">
            <a:avLst>
              <a:gd name="adj" fmla="val 50000"/>
            </a:avLst>
          </a:prstGeom>
          <a:solidFill>
            <a:srgbClr val="8C2F39"/>
          </a:solidFill>
          <a:ln w="12700">
            <a:solidFill>
              <a:srgbClr val="8C2F39"/>
            </a:solidFill>
            <a:prstDash val="solid"/>
          </a:ln>
        </p:spPr>
      </p:sp>
      <p:sp>
        <p:nvSpPr>
          <p:cNvPr id="10" name="Text 8"/>
          <p:cNvSpPr txBox="1"/>
          <p:nvPr/>
        </p:nvSpPr>
        <p:spPr>
          <a:xfrm>
            <a:off x="6510528" y="2011680"/>
            <a:ext cx="2103120" cy="256032"/>
          </a:xfrm>
          <a:prstGeom prst="rect">
            <a:avLst/>
          </a:prstGeom>
          <a:noFill/>
          <a:ln/>
        </p:spPr>
        <p:txBody>
          <a:bodyPr wrap="square" lIns="0" tIns="0" rIns="0" bIns="0" rtlCol="0" anchor="ctr"/>
          <a:lstStyle/>
          <a:p>
            <a:pPr algn="ctr" indent="0" marL="0">
              <a:buNone/>
            </a:pPr>
            <a:r>
              <a:rPr lang="en-US" sz="1000" b="1" dirty="0">
                <a:solidFill>
                  <a:srgbClr val="FFFFFF"/>
                </a:solidFill>
              </a:rPr>
              <a:t>LO QUE OBJETARON</a:t>
            </a:r>
            <a:endParaRPr lang="en-US" sz="1000" dirty="0"/>
          </a:p>
        </p:txBody>
      </p:sp>
      <p:sp>
        <p:nvSpPr>
          <p:cNvPr id="11" name="Text 9"/>
          <p:cNvSpPr txBox="1"/>
          <p:nvPr/>
        </p:nvSpPr>
        <p:spPr>
          <a:xfrm>
            <a:off x="6510528" y="2395728"/>
            <a:ext cx="4846320" cy="3474720"/>
          </a:xfrm>
          <a:prstGeom prst="rect">
            <a:avLst/>
          </a:prstGeom>
          <a:noFill/>
          <a:ln/>
        </p:spPr>
        <p:txBody>
          <a:bodyPr wrap="square" lIns="0" tIns="0" rIns="0" bIns="0" rtlCol="0" anchor="ctr"/>
          <a:lstStyle/>
          <a:p>
            <a:pPr indent="0" marL="0">
              <a:lnSpc>
                <a:spcPts val="1450"/>
              </a:lnSpc>
              <a:spcAft>
                <a:spcPts val="500"/>
              </a:spcAft>
              <a:buNone/>
            </a:pPr>
            <a:r>
              <a:rPr lang="en-US" sz="1200" b="1" dirty="0">
                <a:solidFill>
                  <a:srgbClr val="0B3C5D"/>
                </a:solidFill>
              </a:rPr>
              <a:t>Un solo split, una sola semilla</a:t>
            </a:r>
            <a:endParaRPr lang="en-US" sz="1200" dirty="0"/>
          </a:p>
          <a:p>
            <a:pPr indent="0" marL="0">
              <a:lnSpc>
                <a:spcPts val="1450"/>
              </a:lnSpc>
              <a:spcAft>
                <a:spcPts val="500"/>
              </a:spcAft>
              <a:buNone/>
            </a:pPr>
            <a:r>
              <a:rPr lang="en-US" sz="1200" dirty="0">
                <a:solidFill>
                  <a:srgbClr val="2F3A4D"/>
                </a:solidFill>
              </a:rPr>
              <a:t>El estandar en IEMOCAP es LOSO 5-fold. Sin desviacion ni repeticiones (R1, R3).</a:t>
            </a:r>
            <a:endParaRPr lang="en-US" sz="1200" dirty="0"/>
          </a:p>
          <a:p>
            <a:pPr indent="0" marL="0">
              <a:lnSpc>
                <a:spcPts val="1450"/>
              </a:lnSpc>
              <a:spcAft>
                <a:spcPts val="500"/>
              </a:spcAft>
              <a:buNone/>
            </a:pPr>
            <a:r>
              <a:rPr lang="en-US" sz="1200" b="1" dirty="0">
                <a:solidFill>
                  <a:srgbClr val="0B3C5D"/>
                </a:solidFill>
              </a:rPr>
              <a:t>Margenes dentro del ruido</a:t>
            </a:r>
            <a:endParaRPr lang="en-US" sz="1200" dirty="0"/>
          </a:p>
          <a:p>
            <a:pPr indent="0" marL="0">
              <a:lnSpc>
                <a:spcPts val="1450"/>
              </a:lnSpc>
              <a:spcAft>
                <a:spcPts val="500"/>
              </a:spcAft>
              <a:buNone/>
            </a:pPr>
            <a:r>
              <a:rPr lang="en-US" sz="1200" dirty="0">
                <a:solidFill>
                  <a:srgbClr val="2F3A4D"/>
                </a:solidFill>
              </a:rPr>
              <a:t>+0.09 pp sobre UniMSE y +1.53 sobre Kim no son interpretables (R1).</a:t>
            </a:r>
            <a:endParaRPr lang="en-US" sz="1200" dirty="0"/>
          </a:p>
          <a:p>
            <a:pPr indent="0" marL="0">
              <a:lnSpc>
                <a:spcPts val="1450"/>
              </a:lnSpc>
              <a:spcAft>
                <a:spcPts val="500"/>
              </a:spcAft>
              <a:buNone/>
            </a:pPr>
            <a:r>
              <a:rPr lang="en-US" sz="1200" b="1" dirty="0">
                <a:solidFill>
                  <a:srgbClr val="0B3C5D"/>
                </a:solidFill>
              </a:rPr>
              <a:t>Numeros internamente inconsistentes</a:t>
            </a:r>
            <a:endParaRPr lang="en-US" sz="1200" dirty="0"/>
          </a:p>
          <a:p>
            <a:pPr indent="0" marL="0">
              <a:lnSpc>
                <a:spcPts val="1450"/>
              </a:lnSpc>
              <a:spcAft>
                <a:spcPts val="500"/>
              </a:spcAft>
              <a:buNone/>
            </a:pPr>
            <a:r>
              <a:rPr lang="en-US" sz="1200" dirty="0">
                <a:solidFill>
                  <a:srgbClr val="2F3A4D"/>
                </a:solidFill>
              </a:rPr>
              <a:t>La matriz de confusion no genera la exactitud reportada (R2).</a:t>
            </a:r>
            <a:endParaRPr lang="en-US" sz="1200" dirty="0"/>
          </a:p>
          <a:p>
            <a:pPr indent="0" marL="0">
              <a:lnSpc>
                <a:spcPts val="1450"/>
              </a:lnSpc>
              <a:spcAft>
                <a:spcPts val="500"/>
              </a:spcAft>
              <a:buNone/>
            </a:pPr>
            <a:r>
              <a:rPr lang="en-US" sz="1200" b="1" dirty="0">
                <a:solidFill>
                  <a:srgbClr val="0B3C5D"/>
                </a:solidFill>
              </a:rPr>
              <a:t>Contribuciones confundidas</a:t>
            </a:r>
            <a:endParaRPr lang="en-US" sz="1200" dirty="0"/>
          </a:p>
          <a:p>
            <a:pPr indent="0" marL="0">
              <a:lnSpc>
                <a:spcPts val="1450"/>
              </a:lnSpc>
              <a:spcAft>
                <a:spcPts val="500"/>
              </a:spcAft>
              <a:buNone/>
            </a:pPr>
            <a:r>
              <a:rPr lang="en-US" sz="1200" dirty="0">
                <a:solidFill>
                  <a:srgbClr val="2F3A4D"/>
                </a:solidFill>
              </a:rPr>
              <a:t>El salto 34 → 45 mezcla cabeza MST, tasas, scheduler, batch y label smoothing (R1).</a:t>
            </a:r>
            <a:endParaRPr lang="en-US" sz="1200" dirty="0"/>
          </a:p>
          <a:p>
            <a:pPr indent="0" marL="0">
              <a:lnSpc>
                <a:spcPts val="1450"/>
              </a:lnSpc>
              <a:spcAft>
                <a:spcPts val="500"/>
              </a:spcAft>
              <a:buNone/>
            </a:pPr>
            <a:r>
              <a:rPr lang="en-US" sz="1200" b="1" dirty="0">
                <a:solidFill>
                  <a:srgbClr val="0B3C5D"/>
                </a:solidFill>
              </a:rPr>
              <a:t>Sin evaluacion cross-corpus</a:t>
            </a:r>
            <a:endParaRPr lang="en-US" sz="1200" dirty="0"/>
          </a:p>
          <a:p>
            <a:pPr indent="0" marL="0">
              <a:lnSpc>
                <a:spcPts val="1450"/>
              </a:lnSpc>
              <a:spcAft>
                <a:spcPts val="500"/>
              </a:spcAft>
              <a:buNone/>
            </a:pPr>
            <a:r>
              <a:rPr lang="en-US" sz="1200" dirty="0">
                <a:solidFill>
                  <a:srgbClr val="2F3A4D"/>
                </a:solidFill>
              </a:rPr>
              <a:t>Las afirmaciones de generalizacion no estan sostenidas (R1).</a:t>
            </a:r>
            <a:endParaRPr lang="en-US" sz="1200" dirty="0"/>
          </a:p>
          <a:p>
            <a:pPr indent="0" marL="0">
              <a:lnSpc>
                <a:spcPts val="1450"/>
              </a:lnSpc>
              <a:spcAft>
                <a:spcPts val="500"/>
              </a:spcAft>
              <a:buNone/>
            </a:pPr>
            <a:r>
              <a:rPr lang="en-US" sz="1200" b="1" dirty="0">
                <a:solidFill>
                  <a:srgbClr val="0B3C5D"/>
                </a:solidFill>
              </a:rPr>
              <a:t>Transcripcion de oro irrealista</a:t>
            </a:r>
            <a:endParaRPr lang="en-US" sz="1200" dirty="0"/>
          </a:p>
          <a:p>
            <a:pPr indent="0" marL="0">
              <a:lnSpc>
                <a:spcPts val="1450"/>
              </a:lnSpc>
              <a:spcAft>
                <a:spcPts val="500"/>
              </a:spcAft>
              <a:buNone/>
            </a:pPr>
            <a:r>
              <a:rPr lang="en-US" sz="1200" dirty="0">
                <a:solidFill>
                  <a:srgbClr val="2F3A4D"/>
                </a:solidFill>
              </a:rPr>
              <a:t>¿Que pasa con ASR? Falta comparar contra audio-LLMs (R3).</a:t>
            </a:r>
            <a:endParaRPr lang="en-US" sz="120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R2 tenia razon, y la causa era mas profunda</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El revisor 2 detecto desde el PDF que los numeros no cuadraban. La auditoria del codigo encontro por que.</a:t>
            </a:r>
            <a:endParaRPr lang="en-US" sz="1400" dirty="0"/>
          </a:p>
        </p:txBody>
      </p:sp>
      <p:sp>
        <p:nvSpPr>
          <p:cNvPr id="4" name="tarjeta_13"/>
          <p:cNvSpPr/>
          <p:nvPr/>
        </p:nvSpPr>
        <p:spPr>
          <a:xfrm>
            <a:off x="640080" y="1828800"/>
            <a:ext cx="3566160" cy="2286000"/>
          </a:xfrm>
          <a:prstGeom prst="roundRect">
            <a:avLst>
              <a:gd name="adj" fmla="val 2400"/>
            </a:avLst>
          </a:prstGeom>
          <a:solidFill>
            <a:srgbClr val="8C2F39"/>
          </a:solidFill>
          <a:ln w="12700">
            <a:solidFill>
              <a:srgbClr val="8C2F39"/>
            </a:solidFill>
            <a:prstDash val="solid"/>
          </a:ln>
        </p:spPr>
      </p:sp>
      <p:sp>
        <p:nvSpPr>
          <p:cNvPr id="5" name="Text 3"/>
          <p:cNvSpPr txBox="1"/>
          <p:nvPr/>
        </p:nvSpPr>
        <p:spPr>
          <a:xfrm>
            <a:off x="914400" y="1965960"/>
            <a:ext cx="3017520" cy="914400"/>
          </a:xfrm>
          <a:prstGeom prst="rect">
            <a:avLst/>
          </a:prstGeom>
          <a:noFill/>
          <a:ln/>
        </p:spPr>
        <p:txBody>
          <a:bodyPr wrap="square" lIns="0" tIns="0" rIns="0" bIns="0" rtlCol="0" anchor="ctr"/>
          <a:lstStyle/>
          <a:p>
            <a:pPr indent="0" marL="0">
              <a:buNone/>
            </a:pPr>
            <a:r>
              <a:rPr lang="en-US" sz="6000" b="1" dirty="0">
                <a:solidFill>
                  <a:srgbClr val="FFFFFF"/>
                </a:solidFill>
              </a:rPr>
              <a:t>2 943</a:t>
            </a:r>
            <a:endParaRPr lang="en-US" sz="6000" dirty="0"/>
          </a:p>
        </p:txBody>
      </p:sp>
      <p:sp>
        <p:nvSpPr>
          <p:cNvPr id="6" name="Text 4"/>
          <p:cNvSpPr txBox="1"/>
          <p:nvPr/>
        </p:nvSpPr>
        <p:spPr>
          <a:xfrm>
            <a:off x="914400" y="2880360"/>
            <a:ext cx="3017520" cy="109728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rPr>
              <a:t>de 5 531 utterances</a:t>
            </a:r>
            <a:endParaRPr lang="en-US" sz="1250" dirty="0"/>
          </a:p>
          <a:p>
            <a:pPr indent="0" marL="0">
              <a:lnSpc>
                <a:spcPts val="1500"/>
              </a:lnSpc>
              <a:buNone/>
            </a:pPr>
            <a:r>
              <a:rPr lang="en-US" sz="1250" dirty="0">
                <a:solidFill>
                  <a:srgbClr val="F2D9DC"/>
                </a:solidFill>
              </a:rPr>
              <a:t>se descartaban en silencio. Un error de troceado de cadena en _find_audio_file ([:3] en lugar de [:-1]) eliminaba TODAS las improvisadas.</a:t>
            </a:r>
            <a:endParaRPr lang="en-US" sz="1250" dirty="0"/>
          </a:p>
        </p:txBody>
      </p:sp>
      <p:sp>
        <p:nvSpPr>
          <p:cNvPr id="7" name="tarjeta_14"/>
          <p:cNvSpPr/>
          <p:nvPr/>
        </p:nvSpPr>
        <p:spPr>
          <a:xfrm>
            <a:off x="4407408" y="1828800"/>
            <a:ext cx="7114032" cy="2286000"/>
          </a:xfrm>
          <a:prstGeom prst="roundRect">
            <a:avLst>
              <a:gd name="adj" fmla="val 2400"/>
            </a:avLst>
          </a:prstGeom>
          <a:solidFill>
            <a:srgbClr val="FFFFFF"/>
          </a:solidFill>
          <a:ln w="12700">
            <a:solidFill>
              <a:srgbClr val="DCE3EB"/>
            </a:solidFill>
            <a:prstDash val="solid"/>
          </a:ln>
        </p:spPr>
      </p:sp>
      <p:sp>
        <p:nvSpPr>
          <p:cNvPr id="8" name="Text 6"/>
          <p:cNvSpPr txBox="1"/>
          <p:nvPr/>
        </p:nvSpPr>
        <p:spPr>
          <a:xfrm>
            <a:off x="4681728" y="2011680"/>
            <a:ext cx="6583680" cy="365760"/>
          </a:xfrm>
          <a:prstGeom prst="rect">
            <a:avLst/>
          </a:prstGeom>
          <a:noFill/>
          <a:ln/>
        </p:spPr>
        <p:txBody>
          <a:bodyPr wrap="square" lIns="0" tIns="0" rIns="0" bIns="0" rtlCol="0" anchor="ctr"/>
          <a:lstStyle/>
          <a:p>
            <a:pPr indent="0" marL="0">
              <a:buNone/>
            </a:pPr>
            <a:r>
              <a:rPr lang="en-US" sz="1500" b="1" dirty="0">
                <a:solidFill>
                  <a:srgbClr val="0B3C5D"/>
                </a:solidFill>
              </a:rPr>
              <a:t>Lo que quedaba era IEMOCAP guionizado: actores leyendo libretos.</a:t>
            </a:r>
            <a:endParaRPr lang="en-US" sz="1500" dirty="0"/>
          </a:p>
        </p:txBody>
      </p:sp>
      <p:sp>
        <p:nvSpPr>
          <p:cNvPr id="9" name="Text 7"/>
          <p:cNvSpPr txBox="1"/>
          <p:nvPr/>
        </p:nvSpPr>
        <p:spPr>
          <a:xfrm>
            <a:off x="4681728" y="2423160"/>
            <a:ext cx="6583680" cy="1554480"/>
          </a:xfrm>
          <a:prstGeom prst="rect">
            <a:avLst/>
          </a:prstGeom>
          <a:noFill/>
          <a:ln/>
        </p:spPr>
        <p:txBody>
          <a:bodyPr wrap="square" lIns="0" tIns="0" rIns="0" bIns="0" rtlCol="0" anchor="ctr"/>
          <a:lstStyle/>
          <a:p>
            <a:pPr indent="0" marL="0">
              <a:lnSpc>
                <a:spcPts val="1700"/>
              </a:lnSpc>
              <a:buNone/>
            </a:pPr>
            <a:r>
              <a:rPr lang="en-US" sz="1300" dirty="0">
                <a:solidFill>
                  <a:srgbClr val="2F3A4D"/>
                </a:solidFill>
              </a:rPr>
              <a:t>En las sesiones guionizadas la misma frase aparece en entrenamiento y en prueba, asi que el modelo podia reconocer la frase en lugar de la emocion. </a:t>
            </a:r>
            <a:pPr indent="0" marL="0">
              <a:lnSpc>
                <a:spcPts val="1700"/>
              </a:lnSpc>
              <a:buNone/>
            </a:pPr>
            <a:r>
              <a:rPr lang="en-US" sz="1300" b="1" dirty="0">
                <a:solidFill>
                  <a:srgbClr val="8C2F39"/>
                </a:solidFill>
              </a:rPr>
              <a:t>El 79.23 % no era un resultado: era fuga lexica medida sobre un corpus mutilado.</a:t>
            </a:r>
            <a:pPr indent="0" marL="0">
              <a:lnSpc>
                <a:spcPts val="1700"/>
              </a:lnSpc>
              <a:buNone/>
            </a:pPr>
            <a:r>
              <a:rPr lang="en-US" sz="1300" dirty="0">
                <a:solidFill>
                  <a:srgbClr val="2F3A4D"/>
                </a:solidFill>
              </a:rPr>
              <a:t>  La fuga esta ahora cuantificada en 18.3 % / 23.3 % / 14.8 %, y no la hemos visto reportada asi en la literatura de SER.</a:t>
            </a:r>
            <a:endParaRPr lang="en-US" sz="1300" dirty="0"/>
          </a:p>
        </p:txBody>
      </p:sp>
      <p:sp>
        <p:nvSpPr>
          <p:cNvPr id="10" name="tarjeta_15"/>
          <p:cNvSpPr/>
          <p:nvPr/>
        </p:nvSpPr>
        <p:spPr>
          <a:xfrm>
            <a:off x="640080" y="4315968"/>
            <a:ext cx="10911535" cy="1600200"/>
          </a:xfrm>
          <a:prstGeom prst="roundRect">
            <a:avLst>
              <a:gd name="adj" fmla="val 3429"/>
            </a:avLst>
          </a:prstGeom>
          <a:solidFill>
            <a:srgbClr val="EEF2F7"/>
          </a:solidFill>
          <a:ln w="12700">
            <a:solidFill>
              <a:srgbClr val="EEF2F7"/>
            </a:solidFill>
            <a:prstDash val="solid"/>
          </a:ln>
        </p:spPr>
      </p:sp>
      <p:sp>
        <p:nvSpPr>
          <p:cNvPr id="11" name="Text 9"/>
          <p:cNvSpPr txBox="1"/>
          <p:nvPr/>
        </p:nvSpPr>
        <p:spPr>
          <a:xfrm>
            <a:off x="914400" y="4480560"/>
            <a:ext cx="10058400" cy="320040"/>
          </a:xfrm>
          <a:prstGeom prst="rect">
            <a:avLst/>
          </a:prstGeom>
          <a:noFill/>
          <a:ln/>
        </p:spPr>
        <p:txBody>
          <a:bodyPr wrap="square" lIns="0" tIns="0" rIns="0" bIns="0" rtlCol="0" anchor="ctr"/>
          <a:lstStyle/>
          <a:p>
            <a:pPr indent="0" marL="0">
              <a:buNone/>
            </a:pPr>
            <a:r>
              <a:rPr lang="en-US" sz="1400" b="1" dirty="0">
                <a:solidFill>
                  <a:srgbClr val="0B3C5D"/>
                </a:solidFill>
              </a:rPr>
              <a:t>La otra observacion de R2 tambien se confirmo</a:t>
            </a:r>
            <a:endParaRPr lang="en-US" sz="1400" dirty="0"/>
          </a:p>
        </p:txBody>
      </p:sp>
      <p:sp>
        <p:nvSpPr>
          <p:cNvPr id="12" name="Text 10"/>
          <p:cNvSpPr txBox="1"/>
          <p:nvPr/>
        </p:nvSpPr>
        <p:spPr>
          <a:xfrm>
            <a:off x="914400" y="4800600"/>
            <a:ext cx="10332720" cy="1005840"/>
          </a:xfrm>
          <a:prstGeom prst="rect">
            <a:avLst/>
          </a:prstGeom>
          <a:noFill/>
          <a:ln/>
        </p:spPr>
        <p:txBody>
          <a:bodyPr wrap="square" lIns="0" tIns="0" rIns="0" bIns="0" rtlCol="0" anchor="ctr"/>
          <a:lstStyle/>
          <a:p>
            <a:pPr indent="0" marL="0">
              <a:lnSpc>
                <a:spcPts val="1500"/>
              </a:lnSpc>
              <a:buNone/>
            </a:pPr>
            <a:r>
              <a:rPr lang="en-US" sz="1250" i="1" dirty="0">
                <a:solidFill>
                  <a:srgbClr val="2F3A4D"/>
                </a:solidFill>
              </a:rPr>
              <a:t>“The training curve contradicts the claimed checkpoint epoch”</a:t>
            </a:r>
            <a:endParaRPr lang="en-US" sz="1250" dirty="0"/>
          </a:p>
          <a:p>
            <a:pPr indent="0" marL="0">
              <a:lnSpc>
                <a:spcPts val="1500"/>
              </a:lnSpc>
              <a:buNone/>
            </a:pPr>
            <a:r>
              <a:rPr lang="en-US" sz="1250" dirty="0">
                <a:solidFill>
                  <a:srgbClr val="2F3A4D"/>
                </a:solidFill>
              </a:rPr>
              <a:t>El manuscrito dice “checkpointed at this peak (epoch 41)”. El pico real esta en la epoca 33. Tambien se verifico que el warmup lineal del 10 % nunca se ejecuto, que las tasas de aprendizaje diferenciadas nunca se aplicaron (todo entreno a 5e-6) y que el desplazamiento de pitch de la augmentacion era la identidad: correlacion 1.0000 con el original.</a:t>
            </a:r>
            <a:endParaRPr lang="en-US" sz="125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El numero honesto, y por que no es comparable</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Tres cifras de tres protocolos distintos. Ponerlas en la misma grafica seria repetir el error del manuscrito.</a:t>
            </a:r>
            <a:endParaRPr lang="en-US" sz="1400" dirty="0"/>
          </a:p>
        </p:txBody>
      </p:sp>
      <p:sp>
        <p:nvSpPr>
          <p:cNvPr id="4" name="tarjeta_16"/>
          <p:cNvSpPr/>
          <p:nvPr/>
        </p:nvSpPr>
        <p:spPr>
          <a:xfrm>
            <a:off x="640080" y="1783080"/>
            <a:ext cx="3502152" cy="2697480"/>
          </a:xfrm>
          <a:prstGeom prst="roundRect">
            <a:avLst>
              <a:gd name="adj" fmla="val 2034"/>
            </a:avLst>
          </a:prstGeom>
          <a:solidFill>
            <a:srgbClr val="FFFFFF"/>
          </a:solidFill>
          <a:ln w="12700">
            <a:solidFill>
              <a:srgbClr val="DCE3EB"/>
            </a:solidFill>
            <a:prstDash val="solid"/>
          </a:ln>
        </p:spPr>
      </p:sp>
      <p:sp>
        <p:nvSpPr>
          <p:cNvPr id="5" name="pastilla_17"/>
          <p:cNvSpPr/>
          <p:nvPr/>
        </p:nvSpPr>
        <p:spPr>
          <a:xfrm>
            <a:off x="896112" y="1993392"/>
            <a:ext cx="1463040" cy="256032"/>
          </a:xfrm>
          <a:prstGeom prst="roundRect">
            <a:avLst>
              <a:gd name="adj" fmla="val 50000"/>
            </a:avLst>
          </a:prstGeom>
          <a:solidFill>
            <a:srgbClr val="8C2F39"/>
          </a:solidFill>
          <a:ln w="12700">
            <a:solidFill>
              <a:srgbClr val="8C2F39"/>
            </a:solidFill>
            <a:prstDash val="solid"/>
          </a:ln>
        </p:spPr>
      </p:sp>
      <p:sp>
        <p:nvSpPr>
          <p:cNvPr id="6" name="Text 4"/>
          <p:cNvSpPr txBox="1"/>
          <p:nvPr/>
        </p:nvSpPr>
        <p:spPr>
          <a:xfrm>
            <a:off x="896112" y="1993392"/>
            <a:ext cx="1463040" cy="256032"/>
          </a:xfrm>
          <a:prstGeom prst="rect">
            <a:avLst/>
          </a:prstGeom>
          <a:noFill/>
          <a:ln/>
        </p:spPr>
        <p:txBody>
          <a:bodyPr wrap="square" lIns="0" tIns="0" rIns="0" bIns="0" rtlCol="0" anchor="ctr"/>
          <a:lstStyle/>
          <a:p>
            <a:pPr algn="ctr" indent="0" marL="0">
              <a:buNone/>
            </a:pPr>
            <a:r>
              <a:rPr lang="en-US" sz="1000" b="1" dirty="0">
                <a:solidFill>
                  <a:srgbClr val="FFFFFF"/>
                </a:solidFill>
              </a:rPr>
              <a:t>RETIRADO</a:t>
            </a:r>
            <a:endParaRPr lang="en-US" sz="1000" dirty="0"/>
          </a:p>
        </p:txBody>
      </p:sp>
      <p:sp>
        <p:nvSpPr>
          <p:cNvPr id="7" name="Text 5"/>
          <p:cNvSpPr txBox="1"/>
          <p:nvPr/>
        </p:nvSpPr>
        <p:spPr>
          <a:xfrm>
            <a:off x="896112" y="2331720"/>
            <a:ext cx="3017520" cy="868680"/>
          </a:xfrm>
          <a:prstGeom prst="rect">
            <a:avLst/>
          </a:prstGeom>
          <a:noFill/>
          <a:ln/>
        </p:spPr>
        <p:txBody>
          <a:bodyPr wrap="square" lIns="0" tIns="0" rIns="0" bIns="0" rtlCol="0" anchor="ctr"/>
          <a:lstStyle/>
          <a:p>
            <a:pPr indent="0" marL="0">
              <a:buNone/>
            </a:pPr>
            <a:r>
              <a:rPr lang="en-US" sz="4600" b="1" dirty="0">
                <a:solidFill>
                  <a:srgbClr val="8C2F39"/>
                </a:solidFill>
              </a:rPr>
              <a:t>79.23</a:t>
            </a:r>
            <a:pPr indent="0" marL="0">
              <a:buNone/>
            </a:pPr>
            <a:endParaRPr lang="en-US" sz="4600" dirty="0"/>
          </a:p>
        </p:txBody>
      </p:sp>
      <p:sp>
        <p:nvSpPr>
          <p:cNvPr id="8" name="Text 6"/>
          <p:cNvSpPr txBox="1"/>
          <p:nvPr/>
        </p:nvSpPr>
        <p:spPr>
          <a:xfrm>
            <a:off x="896112" y="3154680"/>
            <a:ext cx="3017520" cy="228600"/>
          </a:xfrm>
          <a:prstGeom prst="rect">
            <a:avLst/>
          </a:prstGeom>
          <a:noFill/>
          <a:ln/>
        </p:spPr>
        <p:txBody>
          <a:bodyPr wrap="square" lIns="0" tIns="0" rIns="0" bIns="0" rtlCol="0" anchor="ctr"/>
          <a:lstStyle/>
          <a:p>
            <a:pPr indent="0" marL="0">
              <a:buNone/>
            </a:pPr>
            <a:r>
              <a:rPr lang="en-US" sz="1000" dirty="0">
                <a:solidFill>
                  <a:srgbClr val="6B7280"/>
                </a:solidFill>
              </a:rPr>
              <a:t>UA  %</a:t>
            </a:r>
            <a:endParaRPr lang="en-US" sz="1000" dirty="0"/>
          </a:p>
        </p:txBody>
      </p:sp>
      <p:sp>
        <p:nvSpPr>
          <p:cNvPr id="9" name="Text 7"/>
          <p:cNvSpPr txBox="1"/>
          <p:nvPr/>
        </p:nvSpPr>
        <p:spPr>
          <a:xfrm>
            <a:off x="896112" y="3401568"/>
            <a:ext cx="3017520" cy="292608"/>
          </a:xfrm>
          <a:prstGeom prst="rect">
            <a:avLst/>
          </a:prstGeom>
          <a:noFill/>
          <a:ln/>
        </p:spPr>
        <p:txBody>
          <a:bodyPr wrap="square" lIns="0" tIns="0" rIns="0" bIns="0" rtlCol="0" anchor="ctr"/>
          <a:lstStyle/>
          <a:p>
            <a:pPr indent="0" marL="0">
              <a:buNone/>
            </a:pPr>
            <a:r>
              <a:rPr lang="en-US" sz="1400" b="1" dirty="0">
                <a:solidFill>
                  <a:srgbClr val="0B3C5D"/>
                </a:solidFill>
              </a:rPr>
              <a:t>Reclamado en el manuscrito</a:t>
            </a:r>
            <a:endParaRPr lang="en-US" sz="1400" dirty="0"/>
          </a:p>
        </p:txBody>
      </p:sp>
      <p:sp>
        <p:nvSpPr>
          <p:cNvPr id="10" name="Text 8"/>
          <p:cNvSpPr txBox="1"/>
          <p:nvPr/>
        </p:nvSpPr>
        <p:spPr>
          <a:xfrm>
            <a:off x="896112" y="3712464"/>
            <a:ext cx="3017520" cy="640080"/>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Un split, semilla 42, corpus mutilado con fuga lexica</a:t>
            </a:r>
            <a:endParaRPr lang="en-US" sz="1150" dirty="0"/>
          </a:p>
        </p:txBody>
      </p:sp>
      <p:sp>
        <p:nvSpPr>
          <p:cNvPr id="11" name="tarjeta_18"/>
          <p:cNvSpPr/>
          <p:nvPr/>
        </p:nvSpPr>
        <p:spPr>
          <a:xfrm>
            <a:off x="4416552" y="1783080"/>
            <a:ext cx="3502152" cy="2697480"/>
          </a:xfrm>
          <a:prstGeom prst="roundRect">
            <a:avLst>
              <a:gd name="adj" fmla="val 2034"/>
            </a:avLst>
          </a:prstGeom>
          <a:solidFill>
            <a:srgbClr val="FFFFFF"/>
          </a:solidFill>
          <a:ln w="12700">
            <a:solidFill>
              <a:srgbClr val="DCE3EB"/>
            </a:solidFill>
            <a:prstDash val="solid"/>
          </a:ln>
        </p:spPr>
      </p:sp>
      <p:sp>
        <p:nvSpPr>
          <p:cNvPr id="12" name="pastilla_19"/>
          <p:cNvSpPr/>
          <p:nvPr/>
        </p:nvSpPr>
        <p:spPr>
          <a:xfrm>
            <a:off x="4672584" y="1993392"/>
            <a:ext cx="1463040" cy="256032"/>
          </a:xfrm>
          <a:prstGeom prst="roundRect">
            <a:avLst>
              <a:gd name="adj" fmla="val 50000"/>
            </a:avLst>
          </a:prstGeom>
          <a:solidFill>
            <a:srgbClr val="C1663A"/>
          </a:solidFill>
          <a:ln w="12700">
            <a:solidFill>
              <a:srgbClr val="C1663A"/>
            </a:solidFill>
            <a:prstDash val="solid"/>
          </a:ln>
        </p:spPr>
      </p:sp>
      <p:sp>
        <p:nvSpPr>
          <p:cNvPr id="13" name="Text 11"/>
          <p:cNvSpPr txBox="1"/>
          <p:nvPr/>
        </p:nvSpPr>
        <p:spPr>
          <a:xfrm>
            <a:off x="4672584" y="1993392"/>
            <a:ext cx="1463040" cy="256032"/>
          </a:xfrm>
          <a:prstGeom prst="rect">
            <a:avLst/>
          </a:prstGeom>
          <a:noFill/>
          <a:ln/>
        </p:spPr>
        <p:txBody>
          <a:bodyPr wrap="square" lIns="0" tIns="0" rIns="0" bIns="0" rtlCol="0" anchor="ctr"/>
          <a:lstStyle/>
          <a:p>
            <a:pPr algn="ctr" indent="0" marL="0">
              <a:buNone/>
            </a:pPr>
            <a:r>
              <a:rPr lang="en-US" sz="1000" b="1" dirty="0">
                <a:solidFill>
                  <a:srgbClr val="FFFFFF"/>
                </a:solidFill>
              </a:rPr>
              <a:t>SEP 2026</a:t>
            </a:r>
            <a:endParaRPr lang="en-US" sz="1000" dirty="0"/>
          </a:p>
        </p:txBody>
      </p:sp>
      <p:sp>
        <p:nvSpPr>
          <p:cNvPr id="14" name="Text 12"/>
          <p:cNvSpPr txBox="1"/>
          <p:nvPr/>
        </p:nvSpPr>
        <p:spPr>
          <a:xfrm>
            <a:off x="4672584" y="2331720"/>
            <a:ext cx="3017520" cy="868680"/>
          </a:xfrm>
          <a:prstGeom prst="rect">
            <a:avLst/>
          </a:prstGeom>
          <a:noFill/>
          <a:ln/>
        </p:spPr>
        <p:txBody>
          <a:bodyPr wrap="square" lIns="0" tIns="0" rIns="0" bIns="0" rtlCol="0" anchor="ctr"/>
          <a:lstStyle/>
          <a:p>
            <a:pPr indent="0" marL="0">
              <a:buNone/>
            </a:pPr>
            <a:r>
              <a:rPr lang="en-US" sz="4600" b="1" dirty="0">
                <a:solidFill>
                  <a:srgbClr val="C1663A"/>
                </a:solidFill>
              </a:rPr>
              <a:t>70.73</a:t>
            </a:r>
            <a:pPr indent="0" marL="0">
              <a:buNone/>
            </a:pPr>
            <a:r>
              <a:rPr lang="en-US" sz="1700" dirty="0">
                <a:solidFill>
                  <a:srgbClr val="C1663A"/>
                </a:solidFill>
              </a:rPr>
              <a:t>  ± 3.01</a:t>
            </a:r>
            <a:endParaRPr lang="en-US" sz="4600" dirty="0"/>
          </a:p>
        </p:txBody>
      </p:sp>
      <p:sp>
        <p:nvSpPr>
          <p:cNvPr id="15" name="Text 13"/>
          <p:cNvSpPr txBox="1"/>
          <p:nvPr/>
        </p:nvSpPr>
        <p:spPr>
          <a:xfrm>
            <a:off x="4672584" y="3154680"/>
            <a:ext cx="3017520" cy="228600"/>
          </a:xfrm>
          <a:prstGeom prst="rect">
            <a:avLst/>
          </a:prstGeom>
          <a:noFill/>
          <a:ln/>
        </p:spPr>
        <p:txBody>
          <a:bodyPr wrap="square" lIns="0" tIns="0" rIns="0" bIns="0" rtlCol="0" anchor="ctr"/>
          <a:lstStyle/>
          <a:p>
            <a:pPr indent="0" marL="0">
              <a:buNone/>
            </a:pPr>
            <a:r>
              <a:rPr lang="en-US" sz="1000" dirty="0">
                <a:solidFill>
                  <a:srgbClr val="6B7280"/>
                </a:solidFill>
              </a:rPr>
              <a:t>UA  %</a:t>
            </a:r>
            <a:endParaRPr lang="en-US" sz="1000" dirty="0"/>
          </a:p>
        </p:txBody>
      </p:sp>
      <p:sp>
        <p:nvSpPr>
          <p:cNvPr id="16" name="Text 14"/>
          <p:cNvSpPr txBox="1"/>
          <p:nvPr/>
        </p:nvSpPr>
        <p:spPr>
          <a:xfrm>
            <a:off x="4672584" y="3401568"/>
            <a:ext cx="3017520" cy="292608"/>
          </a:xfrm>
          <a:prstGeom prst="rect">
            <a:avLst/>
          </a:prstGeom>
          <a:noFill/>
          <a:ln/>
        </p:spPr>
        <p:txBody>
          <a:bodyPr wrap="square" lIns="0" tIns="0" rIns="0" bIns="0" rtlCol="0" anchor="ctr"/>
          <a:lstStyle/>
          <a:p>
            <a:pPr indent="0" marL="0">
              <a:buNone/>
            </a:pPr>
            <a:r>
              <a:rPr lang="en-US" sz="1400" b="1" dirty="0">
                <a:solidFill>
                  <a:srgbClr val="0B3C5D"/>
                </a:solidFill>
              </a:rPr>
              <a:t>Primer numero honesto</a:t>
            </a:r>
            <a:endParaRPr lang="en-US" sz="1400" dirty="0"/>
          </a:p>
        </p:txBody>
      </p:sp>
      <p:sp>
        <p:nvSpPr>
          <p:cNvPr id="17" name="Text 15"/>
          <p:cNvSpPr txBox="1"/>
          <p:nvPr/>
        </p:nvSpPr>
        <p:spPr>
          <a:xfrm>
            <a:off x="4672584" y="3712464"/>
            <a:ext cx="3017520" cy="640080"/>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LOSO 5-fold, corpus completo, 3 sesiones de entrenamiento</a:t>
            </a:r>
            <a:endParaRPr lang="en-US" sz="1150" dirty="0"/>
          </a:p>
        </p:txBody>
      </p:sp>
      <p:sp>
        <p:nvSpPr>
          <p:cNvPr id="18" name="tarjeta_20"/>
          <p:cNvSpPr/>
          <p:nvPr/>
        </p:nvSpPr>
        <p:spPr>
          <a:xfrm>
            <a:off x="8193024" y="1783080"/>
            <a:ext cx="3502152" cy="2697480"/>
          </a:xfrm>
          <a:prstGeom prst="roundRect">
            <a:avLst>
              <a:gd name="adj" fmla="val 2034"/>
            </a:avLst>
          </a:prstGeom>
          <a:solidFill>
            <a:srgbClr val="FFFFFF"/>
          </a:solidFill>
          <a:ln w="12700">
            <a:solidFill>
              <a:srgbClr val="DCE3EB"/>
            </a:solidFill>
            <a:prstDash val="solid"/>
          </a:ln>
        </p:spPr>
      </p:sp>
      <p:sp>
        <p:nvSpPr>
          <p:cNvPr id="19" name="pastilla_21"/>
          <p:cNvSpPr/>
          <p:nvPr/>
        </p:nvSpPr>
        <p:spPr>
          <a:xfrm>
            <a:off x="8449056" y="1993392"/>
            <a:ext cx="1463040" cy="256032"/>
          </a:xfrm>
          <a:prstGeom prst="roundRect">
            <a:avLst>
              <a:gd name="adj" fmla="val 50000"/>
            </a:avLst>
          </a:prstGeom>
          <a:solidFill>
            <a:srgbClr val="2E7D5B"/>
          </a:solidFill>
          <a:ln w="12700">
            <a:solidFill>
              <a:srgbClr val="2E7D5B"/>
            </a:solidFill>
            <a:prstDash val="solid"/>
          </a:ln>
        </p:spPr>
      </p:sp>
      <p:sp>
        <p:nvSpPr>
          <p:cNvPr id="20" name="Text 18"/>
          <p:cNvSpPr txBox="1"/>
          <p:nvPr/>
        </p:nvSpPr>
        <p:spPr>
          <a:xfrm>
            <a:off x="8449056" y="1993392"/>
            <a:ext cx="1463040" cy="256032"/>
          </a:xfrm>
          <a:prstGeom prst="rect">
            <a:avLst/>
          </a:prstGeom>
          <a:noFill/>
          <a:ln/>
        </p:spPr>
        <p:txBody>
          <a:bodyPr wrap="square" lIns="0" tIns="0" rIns="0" bIns="0" rtlCol="0" anchor="ctr"/>
          <a:lstStyle/>
          <a:p>
            <a:pPr algn="ctr" indent="0" marL="0">
              <a:buNone/>
            </a:pPr>
            <a:r>
              <a:rPr lang="en-US" sz="1000" b="1" dirty="0">
                <a:solidFill>
                  <a:srgbClr val="FFFFFF"/>
                </a:solidFill>
              </a:rPr>
              <a:t>OCT 2026</a:t>
            </a:r>
            <a:endParaRPr lang="en-US" sz="1000" dirty="0"/>
          </a:p>
        </p:txBody>
      </p:sp>
      <p:sp>
        <p:nvSpPr>
          <p:cNvPr id="21" name="Text 19"/>
          <p:cNvSpPr txBox="1"/>
          <p:nvPr/>
        </p:nvSpPr>
        <p:spPr>
          <a:xfrm>
            <a:off x="8449056" y="2331720"/>
            <a:ext cx="3017520" cy="868680"/>
          </a:xfrm>
          <a:prstGeom prst="rect">
            <a:avLst/>
          </a:prstGeom>
          <a:noFill/>
          <a:ln/>
        </p:spPr>
        <p:txBody>
          <a:bodyPr wrap="square" lIns="0" tIns="0" rIns="0" bIns="0" rtlCol="0" anchor="ctr"/>
          <a:lstStyle/>
          <a:p>
            <a:pPr indent="0" marL="0">
              <a:buNone/>
            </a:pPr>
            <a:r>
              <a:rPr lang="en-US" sz="4600" b="1" dirty="0">
                <a:solidFill>
                  <a:srgbClr val="2E7D5B"/>
                </a:solidFill>
              </a:rPr>
              <a:t>75.48</a:t>
            </a:r>
            <a:pPr indent="0" marL="0">
              <a:buNone/>
            </a:pPr>
            <a:r>
              <a:rPr lang="en-US" sz="1700" dirty="0">
                <a:solidFill>
                  <a:srgbClr val="2E7D5B"/>
                </a:solidFill>
              </a:rPr>
              <a:t>  / 75.49</a:t>
            </a:r>
            <a:endParaRPr lang="en-US" sz="4600" dirty="0"/>
          </a:p>
        </p:txBody>
      </p:sp>
      <p:sp>
        <p:nvSpPr>
          <p:cNvPr id="22" name="Text 20"/>
          <p:cNvSpPr txBox="1"/>
          <p:nvPr/>
        </p:nvSpPr>
        <p:spPr>
          <a:xfrm>
            <a:off x="8449056" y="3154680"/>
            <a:ext cx="3017520" cy="228600"/>
          </a:xfrm>
          <a:prstGeom prst="rect">
            <a:avLst/>
          </a:prstGeom>
          <a:noFill/>
          <a:ln/>
        </p:spPr>
        <p:txBody>
          <a:bodyPr wrap="square" lIns="0" tIns="0" rIns="0" bIns="0" rtlCol="0" anchor="ctr"/>
          <a:lstStyle/>
          <a:p>
            <a:pPr indent="0" marL="0">
              <a:buNone/>
            </a:pPr>
            <a:r>
              <a:rPr lang="en-US" sz="1000" dirty="0">
                <a:solidFill>
                  <a:srgbClr val="6B7280"/>
                </a:solidFill>
              </a:rPr>
              <a:t>UA  %</a:t>
            </a:r>
            <a:endParaRPr lang="en-US" sz="1000" dirty="0"/>
          </a:p>
        </p:txBody>
      </p:sp>
      <p:sp>
        <p:nvSpPr>
          <p:cNvPr id="23" name="Text 21"/>
          <p:cNvSpPr txBox="1"/>
          <p:nvPr/>
        </p:nvSpPr>
        <p:spPr>
          <a:xfrm>
            <a:off x="8449056" y="3401568"/>
            <a:ext cx="3017520" cy="292608"/>
          </a:xfrm>
          <a:prstGeom prst="rect">
            <a:avLst/>
          </a:prstGeom>
          <a:noFill/>
          <a:ln/>
        </p:spPr>
        <p:txBody>
          <a:bodyPr wrap="square" lIns="0" tIns="0" rIns="0" bIns="0" rtlCol="0" anchor="ctr"/>
          <a:lstStyle/>
          <a:p>
            <a:pPr indent="0" marL="0">
              <a:buNone/>
            </a:pPr>
            <a:r>
              <a:rPr lang="en-US" sz="1400" b="1" dirty="0">
                <a:solidFill>
                  <a:srgbClr val="0B3C5D"/>
                </a:solidFill>
              </a:rPr>
              <a:t>Modelo actual</a:t>
            </a:r>
            <a:endParaRPr lang="en-US" sz="1400" dirty="0"/>
          </a:p>
        </p:txBody>
      </p:sp>
      <p:sp>
        <p:nvSpPr>
          <p:cNvPr id="24" name="Text 22"/>
          <p:cNvSpPr txBox="1"/>
          <p:nvPr/>
        </p:nvSpPr>
        <p:spPr>
          <a:xfrm>
            <a:off x="8449056" y="3712464"/>
            <a:ext cx="3017520" cy="640080"/>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Protocolo estandar, 2 semillas: coinciden en 0.01 pp</a:t>
            </a:r>
            <a:endParaRPr lang="en-US" sz="1150" dirty="0"/>
          </a:p>
        </p:txBody>
      </p:sp>
      <p:sp>
        <p:nvSpPr>
          <p:cNvPr id="25" name="tarjeta_22"/>
          <p:cNvSpPr/>
          <p:nvPr/>
        </p:nvSpPr>
        <p:spPr>
          <a:xfrm>
            <a:off x="640080" y="4681728"/>
            <a:ext cx="10911535" cy="1234440"/>
          </a:xfrm>
          <a:prstGeom prst="roundRect">
            <a:avLst>
              <a:gd name="adj" fmla="val 4444"/>
            </a:avLst>
          </a:prstGeom>
          <a:solidFill>
            <a:srgbClr val="EEF2F7"/>
          </a:solidFill>
          <a:ln w="12700">
            <a:solidFill>
              <a:srgbClr val="EEF2F7"/>
            </a:solidFill>
            <a:prstDash val="solid"/>
          </a:ln>
        </p:spPr>
      </p:sp>
      <p:sp>
        <p:nvSpPr>
          <p:cNvPr id="26" name="Text 24"/>
          <p:cNvSpPr txBox="1"/>
          <p:nvPr/>
        </p:nvSpPr>
        <p:spPr>
          <a:xfrm>
            <a:off x="914400" y="4681728"/>
            <a:ext cx="10362895" cy="1234440"/>
          </a:xfrm>
          <a:prstGeom prst="rect">
            <a:avLst/>
          </a:prstGeom>
          <a:noFill/>
          <a:ln/>
        </p:spPr>
        <p:txBody>
          <a:bodyPr wrap="square" lIns="0" tIns="0" rIns="0" bIns="0" rtlCol="0" anchor="ctr"/>
          <a:lstStyle/>
          <a:p>
            <a:pPr indent="0" marL="0">
              <a:lnSpc>
                <a:spcPts val="1700"/>
              </a:lnSpc>
              <a:buNone/>
            </a:pPr>
            <a:r>
              <a:rPr lang="en-US" sz="1300" b="1" dirty="0">
                <a:solidFill>
                  <a:srgbClr val="8C2F39"/>
                </a:solidFill>
              </a:rPr>
              <a:t>Y la tabla de comparacion con el estado del arte era invalida entera. </a:t>
            </a:r>
            <a:pPr indent="0" marL="0">
              <a:lnSpc>
                <a:spcPts val="1700"/>
              </a:lnSpc>
              <a:buNone/>
            </a:pPr>
            <a:r>
              <a:rPr lang="en-US" sz="1300" dirty="0">
                <a:solidFill>
                  <a:srgbClr val="2F3A4D"/>
                </a:solidFill>
              </a:rPr>
              <a:t>Verificadas las cuatro referencias: Pepino es 67.2 y no 72.50; UniMSE es 70.56 en seis clases con contexto conversacional y no 79.14; MulT reporta multietiqueta binaria por emocion, no cuatro clases; CTNet es reconocimiento en conversacion con contexto. </a:t>
            </a:r>
            <a:pPr indent="0" marL="0">
              <a:lnSpc>
                <a:spcPts val="1700"/>
              </a:lnSpc>
              <a:buNone/>
            </a:pPr>
            <a:r>
              <a:rPr lang="en-US" sz="1300" b="1" dirty="0">
                <a:solidFill>
                  <a:srgbClr val="16202E"/>
                </a:solidFill>
              </a:rPr>
              <a:t>Ninguna de esas comparaciones era legitima, con fuga o sin ella.</a:t>
            </a:r>
            <a:endParaRPr lang="en-US" sz="130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Respuesta a R1 y R3: el aparato de evaluacion</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La objeccion central era estadistica. La respuesta no fue repetir corridas, sino medir cuanto ruido tiene el pipeline.</a:t>
            </a:r>
            <a:endParaRPr lang="en-US" sz="1400" dirty="0"/>
          </a:p>
        </p:txBody>
      </p:sp>
      <p:sp>
        <p:nvSpPr>
          <p:cNvPr id="4" name="tarjeta_23"/>
          <p:cNvSpPr/>
          <p:nvPr/>
        </p:nvSpPr>
        <p:spPr>
          <a:xfrm>
            <a:off x="640080" y="1783080"/>
            <a:ext cx="5394960" cy="1920240"/>
          </a:xfrm>
          <a:prstGeom prst="roundRect">
            <a:avLst>
              <a:gd name="adj" fmla="val 2857"/>
            </a:avLst>
          </a:prstGeom>
          <a:solidFill>
            <a:srgbClr val="FFFFFF"/>
          </a:solidFill>
          <a:ln w="12700">
            <a:solidFill>
              <a:srgbClr val="DCE3EB"/>
            </a:solidFill>
            <a:prstDash val="solid"/>
          </a:ln>
        </p:spPr>
      </p:sp>
      <p:sp>
        <p:nvSpPr>
          <p:cNvPr id="5" name="punto_0"/>
          <p:cNvSpPr/>
          <p:nvPr/>
        </p:nvSpPr>
        <p:spPr>
          <a:xfrm>
            <a:off x="914400" y="2039112"/>
            <a:ext cx="310896" cy="310896"/>
          </a:xfrm>
          <a:prstGeom prst="ellipse">
            <a:avLst/>
          </a:prstGeom>
          <a:solidFill>
            <a:srgbClr val="2E7D5B"/>
          </a:solidFill>
          <a:ln w="12700">
            <a:solidFill>
              <a:srgbClr val="2E7D5B"/>
            </a:solidFill>
            <a:prstDash val="solid"/>
          </a:ln>
        </p:spPr>
      </p:sp>
      <p:sp>
        <p:nvSpPr>
          <p:cNvPr id="6" name="Text 4"/>
          <p:cNvSpPr txBox="1"/>
          <p:nvPr/>
        </p:nvSpPr>
        <p:spPr>
          <a:xfrm>
            <a:off x="914400" y="2039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1353312" y="2020824"/>
            <a:ext cx="4480560" cy="347472"/>
          </a:xfrm>
          <a:prstGeom prst="rect">
            <a:avLst/>
          </a:prstGeom>
          <a:noFill/>
          <a:ln/>
        </p:spPr>
        <p:txBody>
          <a:bodyPr wrap="square" lIns="0" tIns="0" rIns="0" bIns="0" rtlCol="0" anchor="ctr"/>
          <a:lstStyle/>
          <a:p>
            <a:pPr indent="0" marL="0">
              <a:buNone/>
            </a:pPr>
            <a:r>
              <a:rPr lang="en-US" sz="1600" b="1" dirty="0">
                <a:solidFill>
                  <a:srgbClr val="0B3C5D"/>
                </a:solidFill>
              </a:rPr>
              <a:t>Protocolo estandar</a:t>
            </a:r>
            <a:endParaRPr lang="en-US" sz="1600" dirty="0"/>
          </a:p>
        </p:txBody>
      </p:sp>
      <p:sp>
        <p:nvSpPr>
          <p:cNvPr id="8" name="Text 6"/>
          <p:cNvSpPr txBox="1"/>
          <p:nvPr/>
        </p:nvSpPr>
        <p:spPr>
          <a:xfrm>
            <a:off x="1353312" y="2404872"/>
            <a:ext cx="4434840" cy="1143000"/>
          </a:xfrm>
          <a:prstGeom prst="rect">
            <a:avLst/>
          </a:prstGeom>
          <a:noFill/>
          <a:ln/>
        </p:spPr>
        <p:txBody>
          <a:bodyPr wrap="square" lIns="0" tIns="0" rIns="0" bIns="0" rtlCol="0" anchor="ctr"/>
          <a:lstStyle/>
          <a:p>
            <a:pPr indent="0" marL="0">
              <a:lnSpc>
                <a:spcPts val="1600"/>
              </a:lnSpc>
              <a:buNone/>
            </a:pPr>
            <a:r>
              <a:rPr lang="en-US" sz="1250" dirty="0">
                <a:solidFill>
                  <a:srgbClr val="2F3A4D"/>
                </a:solidFill>
              </a:rPr>
              <a:t>LOSO 5-fold con 4 sesiones de entrenamiento y validacion estratificada del 12 %, como la mayoria de la literatura de IEMOCAP. Es exactamente lo que pidio R3.</a:t>
            </a:r>
            <a:endParaRPr lang="en-US" sz="1250" dirty="0"/>
          </a:p>
        </p:txBody>
      </p:sp>
      <p:sp>
        <p:nvSpPr>
          <p:cNvPr id="9" name="tarjeta_24"/>
          <p:cNvSpPr/>
          <p:nvPr/>
        </p:nvSpPr>
        <p:spPr>
          <a:xfrm>
            <a:off x="6236208" y="1783080"/>
            <a:ext cx="5394960" cy="1920240"/>
          </a:xfrm>
          <a:prstGeom prst="roundRect">
            <a:avLst>
              <a:gd name="adj" fmla="val 2857"/>
            </a:avLst>
          </a:prstGeom>
          <a:solidFill>
            <a:srgbClr val="FFFFFF"/>
          </a:solidFill>
          <a:ln w="12700">
            <a:solidFill>
              <a:srgbClr val="DCE3EB"/>
            </a:solidFill>
            <a:prstDash val="solid"/>
          </a:ln>
        </p:spPr>
      </p:sp>
      <p:sp>
        <p:nvSpPr>
          <p:cNvPr id="10" name="punto_1"/>
          <p:cNvSpPr/>
          <p:nvPr/>
        </p:nvSpPr>
        <p:spPr>
          <a:xfrm>
            <a:off x="6510528" y="2039112"/>
            <a:ext cx="310896" cy="310896"/>
          </a:xfrm>
          <a:prstGeom prst="ellipse">
            <a:avLst/>
          </a:prstGeom>
          <a:solidFill>
            <a:srgbClr val="C1663A"/>
          </a:solidFill>
          <a:ln w="12700">
            <a:solidFill>
              <a:srgbClr val="C1663A"/>
            </a:solidFill>
            <a:prstDash val="solid"/>
          </a:ln>
        </p:spPr>
      </p:sp>
      <p:sp>
        <p:nvSpPr>
          <p:cNvPr id="11" name="Text 9"/>
          <p:cNvSpPr txBox="1"/>
          <p:nvPr/>
        </p:nvSpPr>
        <p:spPr>
          <a:xfrm>
            <a:off x="6510528" y="2039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txBox="1"/>
          <p:nvPr/>
        </p:nvSpPr>
        <p:spPr>
          <a:xfrm>
            <a:off x="6949440" y="2020824"/>
            <a:ext cx="4480560" cy="347472"/>
          </a:xfrm>
          <a:prstGeom prst="rect">
            <a:avLst/>
          </a:prstGeom>
          <a:noFill/>
          <a:ln/>
        </p:spPr>
        <p:txBody>
          <a:bodyPr wrap="square" lIns="0" tIns="0" rIns="0" bIns="0" rtlCol="0" anchor="ctr"/>
          <a:lstStyle/>
          <a:p>
            <a:pPr indent="0" marL="0">
              <a:buNone/>
            </a:pPr>
            <a:r>
              <a:rPr lang="en-US" sz="1600" b="1" dirty="0">
                <a:solidFill>
                  <a:srgbClr val="0B3C5D"/>
                </a:solidFill>
              </a:rPr>
              <a:t>Reproducibilidad medida</a:t>
            </a:r>
            <a:endParaRPr lang="en-US" sz="1600" dirty="0"/>
          </a:p>
        </p:txBody>
      </p:sp>
      <p:sp>
        <p:nvSpPr>
          <p:cNvPr id="13" name="Text 11"/>
          <p:cNvSpPr txBox="1"/>
          <p:nvPr/>
        </p:nvSpPr>
        <p:spPr>
          <a:xfrm>
            <a:off x="6949440" y="2404872"/>
            <a:ext cx="4434840" cy="1143000"/>
          </a:xfrm>
          <a:prstGeom prst="rect">
            <a:avLst/>
          </a:prstGeom>
          <a:noFill/>
          <a:ln/>
        </p:spPr>
        <p:txBody>
          <a:bodyPr wrap="square" lIns="0" tIns="0" rIns="0" bIns="0" rtlCol="0" anchor="ctr"/>
          <a:lstStyle/>
          <a:p>
            <a:pPr indent="0" marL="0">
              <a:lnSpc>
                <a:spcPts val="1600"/>
              </a:lnSpc>
              <a:buNone/>
            </a:pPr>
            <a:r>
              <a:rPr lang="en-US" sz="1250" dirty="0">
                <a:solidFill>
                  <a:srgbClr val="2F3A4D"/>
                </a:solidFill>
              </a:rPr>
              <a:t>Tres corridas identicas del mismo fold: 76.11 / 74.77 / 75.66. σ de un fold 0.68 pp, σ de la media de 5 folds 0.30 pp, σ de una diferencia pareada 0.43 pp.</a:t>
            </a:r>
            <a:endParaRPr lang="en-US" sz="1250" dirty="0"/>
          </a:p>
        </p:txBody>
      </p:sp>
      <p:sp>
        <p:nvSpPr>
          <p:cNvPr id="14" name="tarjeta_25"/>
          <p:cNvSpPr/>
          <p:nvPr/>
        </p:nvSpPr>
        <p:spPr>
          <a:xfrm>
            <a:off x="640080" y="3913632"/>
            <a:ext cx="5394960" cy="1920240"/>
          </a:xfrm>
          <a:prstGeom prst="roundRect">
            <a:avLst>
              <a:gd name="adj" fmla="val 2857"/>
            </a:avLst>
          </a:prstGeom>
          <a:solidFill>
            <a:srgbClr val="FFFFFF"/>
          </a:solidFill>
          <a:ln w="12700">
            <a:solidFill>
              <a:srgbClr val="DCE3EB"/>
            </a:solidFill>
            <a:prstDash val="solid"/>
          </a:ln>
        </p:spPr>
      </p:sp>
      <p:sp>
        <p:nvSpPr>
          <p:cNvPr id="15" name="punto_2"/>
          <p:cNvSpPr/>
          <p:nvPr/>
        </p:nvSpPr>
        <p:spPr>
          <a:xfrm>
            <a:off x="914400" y="4169664"/>
            <a:ext cx="310896" cy="310896"/>
          </a:xfrm>
          <a:prstGeom prst="ellipse">
            <a:avLst/>
          </a:prstGeom>
          <a:solidFill>
            <a:srgbClr val="0B3C5D"/>
          </a:solidFill>
          <a:ln w="12700">
            <a:solidFill>
              <a:srgbClr val="0B3C5D"/>
            </a:solidFill>
            <a:prstDash val="solid"/>
          </a:ln>
        </p:spPr>
      </p:sp>
      <p:sp>
        <p:nvSpPr>
          <p:cNvPr id="16" name="Text 14"/>
          <p:cNvSpPr txBox="1"/>
          <p:nvPr/>
        </p:nvSpPr>
        <p:spPr>
          <a:xfrm>
            <a:off x="914400" y="4169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txBox="1"/>
          <p:nvPr/>
        </p:nvSpPr>
        <p:spPr>
          <a:xfrm>
            <a:off x="1353312" y="4151376"/>
            <a:ext cx="4480560" cy="347472"/>
          </a:xfrm>
          <a:prstGeom prst="rect">
            <a:avLst/>
          </a:prstGeom>
          <a:noFill/>
          <a:ln/>
        </p:spPr>
        <p:txBody>
          <a:bodyPr wrap="square" lIns="0" tIns="0" rIns="0" bIns="0" rtlCol="0" anchor="ctr"/>
          <a:lstStyle/>
          <a:p>
            <a:pPr indent="0" marL="0">
              <a:buNone/>
            </a:pPr>
            <a:r>
              <a:rPr lang="en-US" sz="1600" b="1" dirty="0">
                <a:solidFill>
                  <a:srgbClr val="0B3C5D"/>
                </a:solidFill>
              </a:rPr>
              <a:t>Banda de decision ± 0.86 pp</a:t>
            </a:r>
            <a:endParaRPr lang="en-US" sz="1600" dirty="0"/>
          </a:p>
        </p:txBody>
      </p:sp>
      <p:sp>
        <p:nvSpPr>
          <p:cNvPr id="18" name="Text 16"/>
          <p:cNvSpPr txBox="1"/>
          <p:nvPr/>
        </p:nvSpPr>
        <p:spPr>
          <a:xfrm>
            <a:off x="1353312" y="4535424"/>
            <a:ext cx="4434840" cy="1143000"/>
          </a:xfrm>
          <a:prstGeom prst="rect">
            <a:avLst/>
          </a:prstGeom>
          <a:noFill/>
          <a:ln/>
        </p:spPr>
        <p:txBody>
          <a:bodyPr wrap="square" lIns="0" tIns="0" rIns="0" bIns="0" rtlCol="0" anchor="ctr"/>
          <a:lstStyle/>
          <a:p>
            <a:pPr indent="0" marL="0">
              <a:lnSpc>
                <a:spcPts val="1600"/>
              </a:lnSpc>
              <a:buNone/>
            </a:pPr>
            <a:r>
              <a:rPr lang="en-US" sz="1250" dirty="0">
                <a:solidFill>
                  <a:srgbClr val="2F3A4D"/>
                </a:solidFill>
              </a:rPr>
              <a:t>Regla explicita: una diferencia pareada por debajo de esa banda NO se atribuye al modelo. Es la respuesta directa a los margenes de 0.09 y 1.53 pp que objeto R1.</a:t>
            </a:r>
            <a:endParaRPr lang="en-US" sz="1250" dirty="0"/>
          </a:p>
        </p:txBody>
      </p:sp>
      <p:sp>
        <p:nvSpPr>
          <p:cNvPr id="19" name="tarjeta_26"/>
          <p:cNvSpPr/>
          <p:nvPr/>
        </p:nvSpPr>
        <p:spPr>
          <a:xfrm>
            <a:off x="6236208" y="3913632"/>
            <a:ext cx="5394960" cy="1920240"/>
          </a:xfrm>
          <a:prstGeom prst="roundRect">
            <a:avLst>
              <a:gd name="adj" fmla="val 2857"/>
            </a:avLst>
          </a:prstGeom>
          <a:solidFill>
            <a:srgbClr val="FFFFFF"/>
          </a:solidFill>
          <a:ln w="12700">
            <a:solidFill>
              <a:srgbClr val="DCE3EB"/>
            </a:solidFill>
            <a:prstDash val="solid"/>
          </a:ln>
        </p:spPr>
      </p:sp>
      <p:sp>
        <p:nvSpPr>
          <p:cNvPr id="20" name="punto_3"/>
          <p:cNvSpPr/>
          <p:nvPr/>
        </p:nvSpPr>
        <p:spPr>
          <a:xfrm>
            <a:off x="6510528" y="4169664"/>
            <a:ext cx="310896" cy="310896"/>
          </a:xfrm>
          <a:prstGeom prst="ellipse">
            <a:avLst/>
          </a:prstGeom>
          <a:solidFill>
            <a:srgbClr val="1C7293"/>
          </a:solidFill>
          <a:ln w="12700">
            <a:solidFill>
              <a:srgbClr val="1C7293"/>
            </a:solidFill>
            <a:prstDash val="solid"/>
          </a:ln>
        </p:spPr>
      </p:sp>
      <p:sp>
        <p:nvSpPr>
          <p:cNvPr id="21" name="Text 19"/>
          <p:cNvSpPr txBox="1"/>
          <p:nvPr/>
        </p:nvSpPr>
        <p:spPr>
          <a:xfrm>
            <a:off x="6510528" y="4169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2" name="Text 20"/>
          <p:cNvSpPr txBox="1"/>
          <p:nvPr/>
        </p:nvSpPr>
        <p:spPr>
          <a:xfrm>
            <a:off x="6949440" y="4151376"/>
            <a:ext cx="4480560" cy="347472"/>
          </a:xfrm>
          <a:prstGeom prst="rect">
            <a:avLst/>
          </a:prstGeom>
          <a:noFill/>
          <a:ln/>
        </p:spPr>
        <p:txBody>
          <a:bodyPr wrap="square" lIns="0" tIns="0" rIns="0" bIns="0" rtlCol="0" anchor="ctr"/>
          <a:lstStyle/>
          <a:p>
            <a:pPr indent="0" marL="0">
              <a:buNone/>
            </a:pPr>
            <a:r>
              <a:rPr lang="en-US" sz="1600" b="1" dirty="0">
                <a:solidFill>
                  <a:srgbClr val="0B3C5D"/>
                </a:solidFill>
              </a:rPr>
              <a:t>Dos semillas concuerdan</a:t>
            </a:r>
            <a:endParaRPr lang="en-US" sz="1600" dirty="0"/>
          </a:p>
        </p:txBody>
      </p:sp>
      <p:sp>
        <p:nvSpPr>
          <p:cNvPr id="23" name="Text 21"/>
          <p:cNvSpPr txBox="1"/>
          <p:nvPr/>
        </p:nvSpPr>
        <p:spPr>
          <a:xfrm>
            <a:off x="6949440" y="4535424"/>
            <a:ext cx="4434840" cy="1143000"/>
          </a:xfrm>
          <a:prstGeom prst="rect">
            <a:avLst/>
          </a:prstGeom>
          <a:noFill/>
          <a:ln/>
        </p:spPr>
        <p:txBody>
          <a:bodyPr wrap="square" lIns="0" tIns="0" rIns="0" bIns="0" rtlCol="0" anchor="ctr"/>
          <a:lstStyle/>
          <a:p>
            <a:pPr indent="0" marL="0">
              <a:lnSpc>
                <a:spcPts val="1600"/>
              </a:lnSpc>
              <a:buNone/>
            </a:pPr>
            <a:r>
              <a:rPr lang="en-US" sz="1250" dirty="0">
                <a:solidFill>
                  <a:srgbClr val="2F3A4D"/>
                </a:solidFill>
              </a:rPr>
              <a:t>Semilla 42 → 75.48 ± 3.05; semilla 123 → 75.49 ± 3.23. Las medias coinciden en 0.01 pp, asi que la σ de 3 pp es dificultad de sesion, no inestabilidad.</a:t>
            </a:r>
            <a:endParaRPr lang="en-US" sz="125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Descomponer las contribuciones, como pidio R1</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R1 objeto que arquitectura y regimen de entrenamiento estaban mezclados. Al separarlos, el resultado incomoda.</a:t>
            </a:r>
            <a:endParaRPr lang="en-US" sz="1400" dirty="0"/>
          </a:p>
        </p:txBody>
      </p:sp>
      <p:graphicFrame>
        <p:nvGraphicFramePr>
          <p:cNvPr id="4" name="Chart 0" descr=""/>
          <p:cNvGraphicFramePr/>
          <p:nvPr/>
        </p:nvGraphicFramePr>
        <p:xfrm>
          <a:off x="640080" y="1783080"/>
          <a:ext cx="6400800" cy="3200400"/>
        </p:xfrm>
        <a:graphic xmlns:a="http://schemas.openxmlformats.org/drawingml/2006/main">
          <a:graphicData uri="http://schemas.openxmlformats.org/drawingml/2006/chart">
            <c:chart xmlns:c="http://schemas.openxmlformats.org/drawingml/2006/chart" r:id="rId1"/>
          </a:graphicData>
        </a:graphic>
      </p:graphicFrame>
      <p:sp>
        <p:nvSpPr>
          <p:cNvPr id="5" name="tarjeta_27"/>
          <p:cNvSpPr/>
          <p:nvPr/>
        </p:nvSpPr>
        <p:spPr>
          <a:xfrm>
            <a:off x="7333488" y="1783080"/>
            <a:ext cx="4187952" cy="1463040"/>
          </a:xfrm>
          <a:prstGeom prst="roundRect">
            <a:avLst>
              <a:gd name="adj" fmla="val 3750"/>
            </a:avLst>
          </a:prstGeom>
          <a:solidFill>
            <a:srgbClr val="C1663A"/>
          </a:solidFill>
          <a:ln w="12700">
            <a:solidFill>
              <a:srgbClr val="C1663A"/>
            </a:solidFill>
            <a:prstDash val="solid"/>
          </a:ln>
        </p:spPr>
      </p:sp>
      <p:sp>
        <p:nvSpPr>
          <p:cNvPr id="6" name="Text 3"/>
          <p:cNvSpPr txBox="1"/>
          <p:nvPr/>
        </p:nvSpPr>
        <p:spPr>
          <a:xfrm>
            <a:off x="7589520" y="1901952"/>
            <a:ext cx="3657600" cy="548640"/>
          </a:xfrm>
          <a:prstGeom prst="rect">
            <a:avLst/>
          </a:prstGeom>
          <a:noFill/>
          <a:ln/>
        </p:spPr>
        <p:txBody>
          <a:bodyPr wrap="square" lIns="0" tIns="0" rIns="0" bIns="0" rtlCol="0" anchor="ctr"/>
          <a:lstStyle/>
          <a:p>
            <a:pPr indent="0" marL="0">
              <a:buNone/>
            </a:pPr>
            <a:r>
              <a:rPr lang="en-US" sz="3200" b="1" dirty="0">
                <a:solidFill>
                  <a:srgbClr val="FFFFFF"/>
                </a:solidFill>
              </a:rPr>
              <a:t>+5.06 pp</a:t>
            </a:r>
            <a:endParaRPr lang="en-US" sz="3200" dirty="0"/>
          </a:p>
        </p:txBody>
      </p:sp>
      <p:sp>
        <p:nvSpPr>
          <p:cNvPr id="7" name="Text 4"/>
          <p:cNvSpPr txBox="1"/>
          <p:nvPr/>
        </p:nvSpPr>
        <p:spPr>
          <a:xfrm>
            <a:off x="7589520" y="2450592"/>
            <a:ext cx="3657600" cy="685800"/>
          </a:xfrm>
          <a:prstGeom prst="rect">
            <a:avLst/>
          </a:prstGeom>
          <a:noFill/>
          <a:ln/>
        </p:spPr>
        <p:txBody>
          <a:bodyPr wrap="square" lIns="0" tIns="0" rIns="0" bIns="0" rtlCol="0" anchor="ctr"/>
          <a:lstStyle/>
          <a:p>
            <a:pPr indent="0" marL="0">
              <a:lnSpc>
                <a:spcPts val="1400"/>
              </a:lnSpc>
              <a:buNone/>
            </a:pPr>
            <a:r>
              <a:rPr lang="en-US" sz="1200" dirty="0">
                <a:solidFill>
                  <a:srgbClr val="F6E3D8"/>
                </a:solidFill>
              </a:rPr>
              <a:t>valia corregir las tasas de aprendizaje, que nunca se habian aplicado. Unas 12 veces la σ.</a:t>
            </a:r>
            <a:endParaRPr lang="en-US" sz="1200" dirty="0"/>
          </a:p>
        </p:txBody>
      </p:sp>
      <p:sp>
        <p:nvSpPr>
          <p:cNvPr id="8" name="tarjeta_28"/>
          <p:cNvSpPr/>
          <p:nvPr/>
        </p:nvSpPr>
        <p:spPr>
          <a:xfrm>
            <a:off x="7333488" y="3401568"/>
            <a:ext cx="4187952" cy="1581912"/>
          </a:xfrm>
          <a:prstGeom prst="roundRect">
            <a:avLst>
              <a:gd name="adj" fmla="val 3468"/>
            </a:avLst>
          </a:prstGeom>
          <a:solidFill>
            <a:srgbClr val="FFFFFF"/>
          </a:solidFill>
          <a:ln w="12700">
            <a:solidFill>
              <a:srgbClr val="E8CDD0"/>
            </a:solidFill>
            <a:prstDash val="solid"/>
          </a:ln>
        </p:spPr>
      </p:sp>
      <p:sp>
        <p:nvSpPr>
          <p:cNvPr id="9" name="Text 6"/>
          <p:cNvSpPr txBox="1"/>
          <p:nvPr/>
        </p:nvSpPr>
        <p:spPr>
          <a:xfrm>
            <a:off x="7589520" y="3566160"/>
            <a:ext cx="3657600" cy="320040"/>
          </a:xfrm>
          <a:prstGeom prst="rect">
            <a:avLst/>
          </a:prstGeom>
          <a:noFill/>
          <a:ln/>
        </p:spPr>
        <p:txBody>
          <a:bodyPr wrap="square" lIns="0" tIns="0" rIns="0" bIns="0" rtlCol="0" anchor="ctr"/>
          <a:lstStyle/>
          <a:p>
            <a:pPr indent="0" marL="0">
              <a:buNone/>
            </a:pPr>
            <a:r>
              <a:rPr lang="en-US" sz="1500" b="1" dirty="0">
                <a:solidFill>
                  <a:srgbClr val="8C2F39"/>
                </a:solidFill>
              </a:rPr>
              <a:t>La compuerta no aporta nada</a:t>
            </a:r>
            <a:endParaRPr lang="en-US" sz="1500" dirty="0"/>
          </a:p>
        </p:txBody>
      </p:sp>
      <p:sp>
        <p:nvSpPr>
          <p:cNvPr id="10" name="Text 7"/>
          <p:cNvSpPr txBox="1"/>
          <p:nvPr/>
        </p:nvSpPr>
        <p:spPr>
          <a:xfrm>
            <a:off x="7589520" y="3895344"/>
            <a:ext cx="3657600" cy="1005840"/>
          </a:xfrm>
          <a:prstGeom prst="rect">
            <a:avLst/>
          </a:prstGeom>
          <a:noFill/>
          <a:ln/>
        </p:spPr>
        <p:txBody>
          <a:bodyPr wrap="square" lIns="0" tIns="0" rIns="0" bIns="0" rtlCol="0" anchor="ctr"/>
          <a:lstStyle/>
          <a:p>
            <a:pPr indent="0" marL="0">
              <a:lnSpc>
                <a:spcPts val="1450"/>
              </a:lnSpc>
              <a:buNone/>
            </a:pPr>
            <a:r>
              <a:rPr lang="en-US" sz="1200" dirty="0">
                <a:solidFill>
                  <a:srgbClr val="2F3A4D"/>
                </a:solidFill>
              </a:rPr>
              <a:t>Las cuatro diferencias caen dentro de la banda de ± 0.86 pp. El margen oraculo es de 22 pp, pero seleccionar por confianza (69.3 %) sigue perdiendo contra promediar de forma uniforme (69.8 %).</a:t>
            </a:r>
            <a:endParaRPr lang="en-US" sz="1200" dirty="0"/>
          </a:p>
        </p:txBody>
      </p:sp>
      <p:sp>
        <p:nvSpPr>
          <p:cNvPr id="11" name="tarjeta_29"/>
          <p:cNvSpPr/>
          <p:nvPr/>
        </p:nvSpPr>
        <p:spPr>
          <a:xfrm>
            <a:off x="640080" y="5138928"/>
            <a:ext cx="10911535" cy="822960"/>
          </a:xfrm>
          <a:prstGeom prst="roundRect">
            <a:avLst>
              <a:gd name="adj" fmla="val 6667"/>
            </a:avLst>
          </a:prstGeom>
          <a:solidFill>
            <a:srgbClr val="EEF2F7"/>
          </a:solidFill>
          <a:ln w="12700">
            <a:solidFill>
              <a:srgbClr val="EEF2F7"/>
            </a:solidFill>
            <a:prstDash val="solid"/>
          </a:ln>
        </p:spPr>
      </p:sp>
      <p:sp>
        <p:nvSpPr>
          <p:cNvPr id="12" name="Text 9"/>
          <p:cNvSpPr txBox="1"/>
          <p:nvPr/>
        </p:nvSpPr>
        <p:spPr>
          <a:xfrm>
            <a:off x="914400" y="5138928"/>
            <a:ext cx="10362895" cy="822960"/>
          </a:xfrm>
          <a:prstGeom prst="rect">
            <a:avLst/>
          </a:prstGeom>
          <a:noFill/>
          <a:ln/>
        </p:spPr>
        <p:txBody>
          <a:bodyPr wrap="square" lIns="0" tIns="0" rIns="0" bIns="0" rtlCol="0" anchor="ctr"/>
          <a:lstStyle/>
          <a:p>
            <a:pPr indent="0" marL="0">
              <a:lnSpc>
                <a:spcPts val="1600"/>
              </a:lnSpc>
              <a:buNone/>
            </a:pPr>
            <a:r>
              <a:rPr lang="en-US" sz="1300" b="1" dirty="0">
                <a:solidFill>
                  <a:srgbClr val="0B3C5D"/>
                </a:solidFill>
              </a:rPr>
              <a:t>Consecuencia para el articulo: </a:t>
            </a:r>
            <a:pPr indent="0" marL="0">
              <a:lnSpc>
                <a:spcPts val="1600"/>
              </a:lnSpc>
              <a:buNone/>
            </a:pPr>
            <a:r>
              <a:rPr lang="en-US" sz="1300" dirty="0">
                <a:solidFill>
                  <a:srgbClr val="2F3A4D"/>
                </a:solidFill>
              </a:rPr>
              <a:t>“Conflict-Aware” sale del titulo. Analizar </a:t>
            </a:r>
            <a:pPr indent="0" marL="0">
              <a:lnSpc>
                <a:spcPts val="1600"/>
              </a:lnSpc>
              <a:buNone/>
            </a:pPr>
            <a:r>
              <a:rPr lang="en-US" sz="1300" i="1" dirty="0">
                <a:solidFill>
                  <a:srgbClr val="2F3A4D"/>
                </a:solidFill>
              </a:rPr>
              <a:t>por que</a:t>
            </a:r>
            <a:pPr indent="0" marL="0">
              <a:lnSpc>
                <a:spcPts val="1600"/>
              </a:lnSpc>
              <a:buNone/>
            </a:pPr>
            <a:r>
              <a:rPr lang="en-US" sz="1300" dirty="0">
                <a:solidFill>
                  <a:srgbClr val="2F3A4D"/>
                </a:solidFill>
              </a:rPr>
              <a:t> falla la compuerta — las ramas discrepan, pero no de una forma que la confianza pueda explotar — es mejor articulo que reclamar un +2.73 pp que no existe.</a:t>
            </a:r>
            <a:endParaRPr lang="en-US" sz="130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Cross-corpus: lo que pedia R1, y resulto ser la novedad</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Misma arquitectura, sin tocar un hiperparametro, sobre tres corpus que difieren en cuanto informa el texto.</a:t>
            </a:r>
            <a:endParaRPr lang="en-US" sz="1400" dirty="0"/>
          </a:p>
        </p:txBody>
      </p:sp>
      <p:graphicFrame>
        <p:nvGraphicFramePr>
          <p:cNvPr id="4" name="Chart 0" descr=""/>
          <p:cNvGraphicFramePr/>
          <p:nvPr/>
        </p:nvGraphicFramePr>
        <p:xfrm>
          <a:off x="640080" y="1783080"/>
          <a:ext cx="6309360" cy="3566160"/>
        </p:xfrm>
        <a:graphic xmlns:a="http://schemas.openxmlformats.org/drawingml/2006/main">
          <a:graphicData uri="http://schemas.openxmlformats.org/drawingml/2006/chart">
            <c:chart xmlns:c="http://schemas.openxmlformats.org/drawingml/2006/chart" r:id="rId1"/>
          </a:graphicData>
        </a:graphic>
      </p:graphicFrame>
      <p:sp>
        <p:nvSpPr>
          <p:cNvPr id="5" name="tarjeta_30"/>
          <p:cNvSpPr/>
          <p:nvPr/>
        </p:nvSpPr>
        <p:spPr>
          <a:xfrm>
            <a:off x="7242048" y="1783080"/>
            <a:ext cx="4279392" cy="3566160"/>
          </a:xfrm>
          <a:prstGeom prst="roundRect">
            <a:avLst>
              <a:gd name="adj" fmla="val 1538"/>
            </a:avLst>
          </a:prstGeom>
          <a:solidFill>
            <a:srgbClr val="0B3C5D"/>
          </a:solidFill>
          <a:ln w="12700">
            <a:solidFill>
              <a:srgbClr val="0B3C5D"/>
            </a:solidFill>
            <a:prstDash val="solid"/>
          </a:ln>
        </p:spPr>
      </p:sp>
      <p:sp>
        <p:nvSpPr>
          <p:cNvPr id="6" name="Text 3"/>
          <p:cNvSpPr txBox="1"/>
          <p:nvPr/>
        </p:nvSpPr>
        <p:spPr>
          <a:xfrm>
            <a:off x="7516368" y="1965960"/>
            <a:ext cx="3749040" cy="868680"/>
          </a:xfrm>
          <a:prstGeom prst="rect">
            <a:avLst/>
          </a:prstGeom>
          <a:noFill/>
          <a:ln/>
        </p:spPr>
        <p:txBody>
          <a:bodyPr wrap="square" lIns="0" tIns="0" rIns="0" bIns="0" rtlCol="0" anchor="ctr"/>
          <a:lstStyle/>
          <a:p>
            <a:pPr indent="0" marL="0">
              <a:lnSpc>
                <a:spcPts val="2200"/>
              </a:lnSpc>
              <a:buNone/>
            </a:pPr>
            <a:r>
              <a:rPr lang="en-US" sz="1800" b="1" dirty="0">
                <a:solidFill>
                  <a:srgbClr val="FFFFFF"/>
                </a:solidFill>
              </a:rPr>
              <a:t>El aporte de la fusion escala con cuanto informa el canal lexico</a:t>
            </a:r>
            <a:endParaRPr lang="en-US" sz="1800" dirty="0"/>
          </a:p>
        </p:txBody>
      </p:sp>
      <p:sp>
        <p:nvSpPr>
          <p:cNvPr id="7" name="Text 4"/>
          <p:cNvSpPr txBox="1"/>
          <p:nvPr/>
        </p:nvSpPr>
        <p:spPr>
          <a:xfrm>
            <a:off x="7516368" y="2926080"/>
            <a:ext cx="3749040" cy="2240280"/>
          </a:xfrm>
          <a:prstGeom prst="rect">
            <a:avLst/>
          </a:prstGeom>
          <a:noFill/>
          <a:ln/>
        </p:spPr>
        <p:txBody>
          <a:bodyPr wrap="square" lIns="0" tIns="0" rIns="0" bIns="0" rtlCol="0" anchor="ctr"/>
          <a:lstStyle/>
          <a:p>
            <a:pPr indent="0" marL="0">
              <a:lnSpc>
                <a:spcPts val="1500"/>
              </a:lnSpc>
              <a:buNone/>
            </a:pPr>
            <a:r>
              <a:rPr lang="en-US" sz="1200" b="1" dirty="0">
                <a:solidFill>
                  <a:srgbClr val="8FD6B8"/>
                </a:solidFill>
              </a:rPr>
              <a:t>CREMA-D</a:t>
            </a:r>
            <a:endParaRPr lang="en-US" sz="1200" dirty="0"/>
          </a:p>
          <a:p>
            <a:pPr indent="0" marL="0">
              <a:lnSpc>
                <a:spcPts val="1500"/>
              </a:lnSpc>
              <a:buNone/>
            </a:pPr>
            <a:r>
              <a:rPr lang="en-US" sz="1200" dirty="0">
                <a:solidFill>
                  <a:srgbClr val="C7D8E6"/>
                </a:solidFill>
              </a:rPr>
              <a:t>Los 91 actores dicen las mismas 12 frases en todas las emociones: el texto es ortogonal a la emocion por construccion. La fusion no aporta (1 de 5 folds).</a:t>
            </a:r>
            <a:endParaRPr lang="en-US" sz="1200" dirty="0"/>
          </a:p>
          <a:p>
            <a:pPr indent="0" marL="0">
              <a:lnSpc>
                <a:spcPts val="1500"/>
              </a:lnSpc>
              <a:buNone/>
            </a:pPr>
            <a:endParaRPr lang="en-US" sz="1200" dirty="0"/>
          </a:p>
          <a:p>
            <a:pPr indent="0" marL="0">
              <a:lnSpc>
                <a:spcPts val="1500"/>
              </a:lnSpc>
              <a:buNone/>
            </a:pPr>
            <a:r>
              <a:rPr lang="en-US" sz="1200" b="1" dirty="0">
                <a:solidFill>
                  <a:srgbClr val="8FD6B8"/>
                </a:solidFill>
              </a:rPr>
              <a:t>MELD</a:t>
            </a:r>
            <a:endParaRPr lang="en-US" sz="1200" dirty="0"/>
          </a:p>
          <a:p>
            <a:pPr indent="0" marL="0">
              <a:lnSpc>
                <a:spcPts val="1500"/>
              </a:lnSpc>
              <a:buNone/>
            </a:pPr>
            <a:r>
              <a:rPr lang="en-US" sz="1200" dirty="0">
                <a:solidFill>
                  <a:srgbClr val="C7D8E6"/>
                </a:solidFill>
              </a:rPr>
              <a:t>Dialogo de sitcom con transcripcion humana. El audio tiene techo duro: la literatura lo situa en 38–55 de F1 ponderada frente a 56–64 del texto.</a:t>
            </a:r>
            <a:endParaRPr lang="en-US" sz="1200" dirty="0"/>
          </a:p>
        </p:txBody>
      </p:sp>
      <p:sp>
        <p:nvSpPr>
          <p:cNvPr id="8" name="tarjeta_31"/>
          <p:cNvSpPr/>
          <p:nvPr/>
        </p:nvSpPr>
        <p:spPr>
          <a:xfrm>
            <a:off x="640080" y="5504688"/>
            <a:ext cx="10911535" cy="658368"/>
          </a:xfrm>
          <a:prstGeom prst="roundRect">
            <a:avLst>
              <a:gd name="adj" fmla="val 8333"/>
            </a:avLst>
          </a:prstGeom>
          <a:solidFill>
            <a:srgbClr val="FFFFFF"/>
          </a:solidFill>
          <a:ln w="12700">
            <a:solidFill>
              <a:srgbClr val="E8CDD0"/>
            </a:solidFill>
            <a:prstDash val="solid"/>
          </a:ln>
        </p:spPr>
      </p:sp>
      <p:sp>
        <p:nvSpPr>
          <p:cNvPr id="9" name="Text 6"/>
          <p:cNvSpPr txBox="1"/>
          <p:nvPr/>
        </p:nvSpPr>
        <p:spPr>
          <a:xfrm>
            <a:off x="914400" y="5504688"/>
            <a:ext cx="10362895" cy="658368"/>
          </a:xfrm>
          <a:prstGeom prst="rect">
            <a:avLst/>
          </a:prstGeom>
          <a:noFill/>
          <a:ln/>
        </p:spPr>
        <p:txBody>
          <a:bodyPr wrap="square" lIns="0" tIns="0" rIns="0" bIns="0" rtlCol="0" anchor="ctr"/>
          <a:lstStyle/>
          <a:p>
            <a:pPr indent="0" marL="0">
              <a:buNone/>
            </a:pPr>
            <a:r>
              <a:rPr lang="en-US" sz="1250" b="1" dirty="0">
                <a:solidFill>
                  <a:srgbClr val="8C2F39"/>
                </a:solidFill>
              </a:rPr>
              <a:t>Honestidad obligada: </a:t>
            </a:r>
            <a:pPr indent="0" marL="0">
              <a:buNone/>
            </a:pPr>
            <a:r>
              <a:rPr lang="en-US" sz="1250" dirty="0">
                <a:solidFill>
                  <a:srgbClr val="2F3A4D"/>
                </a:solidFill>
              </a:rPr>
              <a:t>MELD tambien tiene audio degradado, asi que por si solo no separa “el texto informa” de “el audio es malo”. El contraste controlado es CREMA-D frente a IEMOCAP, donde el audio es limpio en los dos.</a:t>
            </a:r>
            <a:endParaRPr lang="en-US" sz="125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La evidencia mas fuerte es por clase</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En MELD el aporte se concentra en una sola clase — y el fenomeno ya estaba publicado en 2019.</a:t>
            </a:r>
            <a:endParaRPr lang="en-US" sz="1400" dirty="0"/>
          </a:p>
        </p:txBody>
      </p:sp>
      <p:graphicFrame>
        <p:nvGraphicFramePr>
          <p:cNvPr id="4" name="Chart 0" descr=""/>
          <p:cNvGraphicFramePr/>
          <p:nvPr/>
        </p:nvGraphicFramePr>
        <p:xfrm>
          <a:off x="640080" y="1783080"/>
          <a:ext cx="6400800" cy="3611880"/>
        </p:xfrm>
        <a:graphic xmlns:a="http://schemas.openxmlformats.org/drawingml/2006/main">
          <a:graphicData uri="http://schemas.openxmlformats.org/drawingml/2006/chart">
            <c:chart xmlns:c="http://schemas.openxmlformats.org/drawingml/2006/chart" r:id="rId1"/>
          </a:graphicData>
        </a:graphic>
      </p:graphicFrame>
      <p:sp>
        <p:nvSpPr>
          <p:cNvPr id="5" name="tarjeta_32"/>
          <p:cNvSpPr/>
          <p:nvPr/>
        </p:nvSpPr>
        <p:spPr>
          <a:xfrm>
            <a:off x="7333488" y="1783080"/>
            <a:ext cx="4187952" cy="1700784"/>
          </a:xfrm>
          <a:prstGeom prst="roundRect">
            <a:avLst>
              <a:gd name="adj" fmla="val 3226"/>
            </a:avLst>
          </a:prstGeom>
          <a:solidFill>
            <a:srgbClr val="C1663A"/>
          </a:solidFill>
          <a:ln w="12700">
            <a:solidFill>
              <a:srgbClr val="C1663A"/>
            </a:solidFill>
            <a:prstDash val="solid"/>
          </a:ln>
        </p:spPr>
      </p:sp>
      <p:sp>
        <p:nvSpPr>
          <p:cNvPr id="6" name="Text 3"/>
          <p:cNvSpPr txBox="1"/>
          <p:nvPr/>
        </p:nvSpPr>
        <p:spPr>
          <a:xfrm>
            <a:off x="7589520" y="1901952"/>
            <a:ext cx="3657600" cy="566928"/>
          </a:xfrm>
          <a:prstGeom prst="rect">
            <a:avLst/>
          </a:prstGeom>
          <a:noFill/>
          <a:ln/>
        </p:spPr>
        <p:txBody>
          <a:bodyPr wrap="square" lIns="0" tIns="0" rIns="0" bIns="0" rtlCol="0" anchor="ctr"/>
          <a:lstStyle/>
          <a:p>
            <a:pPr indent="0" marL="0">
              <a:buNone/>
            </a:pPr>
            <a:r>
              <a:rPr lang="en-US" sz="3200" b="1" dirty="0">
                <a:solidFill>
                  <a:srgbClr val="FFFFFF"/>
                </a:solidFill>
              </a:rPr>
              <a:t>+37.6 pp</a:t>
            </a:r>
            <a:endParaRPr lang="en-US" sz="3200" dirty="0"/>
          </a:p>
        </p:txBody>
      </p:sp>
      <p:sp>
        <p:nvSpPr>
          <p:cNvPr id="7" name="Text 4"/>
          <p:cNvSpPr txBox="1"/>
          <p:nvPr/>
        </p:nvSpPr>
        <p:spPr>
          <a:xfrm>
            <a:off x="7589520" y="2487168"/>
            <a:ext cx="3657600" cy="868680"/>
          </a:xfrm>
          <a:prstGeom prst="rect">
            <a:avLst/>
          </a:prstGeom>
          <a:noFill/>
          <a:ln/>
        </p:spPr>
        <p:txBody>
          <a:bodyPr wrap="square" lIns="0" tIns="0" rIns="0" bIns="0" rtlCol="0" anchor="ctr"/>
          <a:lstStyle/>
          <a:p>
            <a:pPr indent="0" marL="0">
              <a:lnSpc>
                <a:spcPts val="1500"/>
              </a:lnSpc>
              <a:buNone/>
            </a:pPr>
            <a:r>
              <a:rPr lang="en-US" sz="1250" dirty="0">
                <a:solidFill>
                  <a:srgbClr val="F6E3D8"/>
                </a:solidFill>
              </a:rPr>
              <a:t>de recall en happy. Neutral gana 7.4 y sad 5.1; angry solo 1.2, dentro de su propio ruido.</a:t>
            </a:r>
            <a:endParaRPr lang="en-US" sz="1250" dirty="0"/>
          </a:p>
        </p:txBody>
      </p:sp>
      <p:sp>
        <p:nvSpPr>
          <p:cNvPr id="8" name="tarjeta_33"/>
          <p:cNvSpPr/>
          <p:nvPr/>
        </p:nvSpPr>
        <p:spPr>
          <a:xfrm>
            <a:off x="7333488" y="3630168"/>
            <a:ext cx="4187952" cy="1783080"/>
          </a:xfrm>
          <a:prstGeom prst="roundRect">
            <a:avLst>
              <a:gd name="adj" fmla="val 3077"/>
            </a:avLst>
          </a:prstGeom>
          <a:solidFill>
            <a:srgbClr val="FFFFFF"/>
          </a:solidFill>
          <a:ln w="12700">
            <a:solidFill>
              <a:srgbClr val="CFE0D6"/>
            </a:solidFill>
            <a:prstDash val="solid"/>
          </a:ln>
        </p:spPr>
      </p:sp>
      <p:sp>
        <p:nvSpPr>
          <p:cNvPr id="9" name="pastilla_34"/>
          <p:cNvSpPr/>
          <p:nvPr/>
        </p:nvSpPr>
        <p:spPr>
          <a:xfrm>
            <a:off x="7589520" y="3776472"/>
            <a:ext cx="2286000" cy="256032"/>
          </a:xfrm>
          <a:prstGeom prst="roundRect">
            <a:avLst>
              <a:gd name="adj" fmla="val 50000"/>
            </a:avLst>
          </a:prstGeom>
          <a:solidFill>
            <a:srgbClr val="2E7D5B"/>
          </a:solidFill>
          <a:ln w="12700">
            <a:solidFill>
              <a:srgbClr val="2E7D5B"/>
            </a:solidFill>
            <a:prstDash val="solid"/>
          </a:ln>
        </p:spPr>
      </p:sp>
      <p:sp>
        <p:nvSpPr>
          <p:cNvPr id="10" name="Text 7"/>
          <p:cNvSpPr txBox="1"/>
          <p:nvPr/>
        </p:nvSpPr>
        <p:spPr>
          <a:xfrm>
            <a:off x="7589520" y="3776472"/>
            <a:ext cx="2286000" cy="256032"/>
          </a:xfrm>
          <a:prstGeom prst="rect">
            <a:avLst/>
          </a:prstGeom>
          <a:noFill/>
          <a:ln/>
        </p:spPr>
        <p:txBody>
          <a:bodyPr wrap="square" lIns="0" tIns="0" rIns="0" bIns="0" rtlCol="0" anchor="ctr"/>
          <a:lstStyle/>
          <a:p>
            <a:pPr algn="ctr" indent="0" marL="0">
              <a:buNone/>
            </a:pPr>
            <a:r>
              <a:rPr lang="en-US" sz="1000" b="1" dirty="0">
                <a:solidFill>
                  <a:srgbClr val="FFFFFF"/>
                </a:solidFill>
              </a:rPr>
              <a:t>REPLICA INDEPENDIENTE</a:t>
            </a:r>
            <a:endParaRPr lang="en-US" sz="1000" dirty="0"/>
          </a:p>
        </p:txBody>
      </p:sp>
      <p:sp>
        <p:nvSpPr>
          <p:cNvPr id="11" name="Text 8"/>
          <p:cNvSpPr txBox="1"/>
          <p:nvPr/>
        </p:nvSpPr>
        <p:spPr>
          <a:xfrm>
            <a:off x="7589520" y="4133088"/>
            <a:ext cx="3657600" cy="1188720"/>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Poria et al. 2019 reportan, en su propio baseline, F1 de joy de 15.74 con solo audio frente a 54.31 con solo texto: la mayor brecha de su tabla. Medimos el mismo fenomeno con otra arquitectura y otra metrica, sin buscarlo.</a:t>
            </a:r>
            <a:endParaRPr lang="en-US" sz="1150" dirty="0"/>
          </a:p>
        </p:txBody>
      </p:sp>
      <p:sp>
        <p:nvSpPr>
          <p:cNvPr id="12" name="tarjeta_35"/>
          <p:cNvSpPr/>
          <p:nvPr/>
        </p:nvSpPr>
        <p:spPr>
          <a:xfrm>
            <a:off x="640080" y="5532120"/>
            <a:ext cx="6400800" cy="621792"/>
          </a:xfrm>
          <a:prstGeom prst="roundRect">
            <a:avLst>
              <a:gd name="adj" fmla="val 8824"/>
            </a:avLst>
          </a:prstGeom>
          <a:solidFill>
            <a:srgbClr val="EEF2F7"/>
          </a:solidFill>
          <a:ln w="12700">
            <a:solidFill>
              <a:srgbClr val="EEF2F7"/>
            </a:solidFill>
            <a:prstDash val="solid"/>
          </a:ln>
        </p:spPr>
      </p:sp>
      <p:sp>
        <p:nvSpPr>
          <p:cNvPr id="13" name="Text 10"/>
          <p:cNvSpPr txBox="1"/>
          <p:nvPr/>
        </p:nvSpPr>
        <p:spPr>
          <a:xfrm>
            <a:off x="914400" y="5532120"/>
            <a:ext cx="5852160" cy="621792"/>
          </a:xfrm>
          <a:prstGeom prst="rect">
            <a:avLst/>
          </a:prstGeom>
          <a:noFill/>
          <a:ln/>
        </p:spPr>
        <p:txBody>
          <a:bodyPr wrap="square" lIns="0" tIns="0" rIns="0" bIns="0" rtlCol="0" anchor="ctr"/>
          <a:lstStyle/>
          <a:p>
            <a:pPr indent="0" marL="0">
              <a:buNone/>
            </a:pPr>
            <a:r>
              <a:rPr lang="en-US" sz="1150" dirty="0">
                <a:solidFill>
                  <a:srgbClr val="2F3A4D"/>
                </a:solidFill>
              </a:rPr>
              <a:t>La cautela se confirmo: con una sola semilla, angry parecia ganar +9.0 pp. Con dos, es +1.2 y queda dentro de su rango. La multi-semilla elimino un hallazgo falso.</a:t>
            </a:r>
            <a:endParaRPr lang="en-US" sz="115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Lo que ademas es publicable del metodo</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Cuatro hallazgos metodologicos transferibles, baratos de reproducir, que no hemos visto reportados asi.</a:t>
            </a:r>
            <a:endParaRPr lang="en-US" sz="1400" dirty="0"/>
          </a:p>
        </p:txBody>
      </p:sp>
      <p:sp>
        <p:nvSpPr>
          <p:cNvPr id="4" name="tarjeta_36"/>
          <p:cNvSpPr/>
          <p:nvPr/>
        </p:nvSpPr>
        <p:spPr>
          <a:xfrm>
            <a:off x="640080" y="1719072"/>
            <a:ext cx="10911535" cy="941832"/>
          </a:xfrm>
          <a:prstGeom prst="roundRect">
            <a:avLst>
              <a:gd name="adj" fmla="val 5825"/>
            </a:avLst>
          </a:prstGeom>
          <a:solidFill>
            <a:srgbClr val="FFFFFF"/>
          </a:solidFill>
          <a:ln w="12700">
            <a:solidFill>
              <a:srgbClr val="DCE3EB"/>
            </a:solidFill>
            <a:prstDash val="solid"/>
          </a:ln>
        </p:spPr>
      </p:sp>
      <p:sp>
        <p:nvSpPr>
          <p:cNvPr id="5" name="hall_0"/>
          <p:cNvSpPr/>
          <p:nvPr/>
        </p:nvSpPr>
        <p:spPr>
          <a:xfrm>
            <a:off x="932688" y="2020824"/>
            <a:ext cx="347472" cy="347472"/>
          </a:xfrm>
          <a:prstGeom prst="ellipse">
            <a:avLst/>
          </a:prstGeom>
          <a:solidFill>
            <a:srgbClr val="1C7293"/>
          </a:solidFill>
          <a:ln w="12700">
            <a:solidFill>
              <a:srgbClr val="1C7293"/>
            </a:solidFill>
            <a:prstDash val="solid"/>
          </a:ln>
        </p:spPr>
      </p:sp>
      <p:sp>
        <p:nvSpPr>
          <p:cNvPr id="6" name="Text 4"/>
          <p:cNvSpPr txBox="1"/>
          <p:nvPr/>
        </p:nvSpPr>
        <p:spPr>
          <a:xfrm>
            <a:off x="932688" y="20208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426464" y="1865376"/>
            <a:ext cx="9966960" cy="329184"/>
          </a:xfrm>
          <a:prstGeom prst="rect">
            <a:avLst/>
          </a:prstGeom>
          <a:noFill/>
          <a:ln/>
        </p:spPr>
        <p:txBody>
          <a:bodyPr wrap="square" lIns="0" tIns="0" rIns="0" bIns="0" rtlCol="0" anchor="ctr"/>
          <a:lstStyle/>
          <a:p>
            <a:pPr indent="0" marL="0">
              <a:buNone/>
            </a:pPr>
            <a:r>
              <a:rPr lang="en-US" sz="1500" b="1" dirty="0">
                <a:solidFill>
                  <a:srgbClr val="0B3C5D"/>
                </a:solidFill>
              </a:rPr>
              <a:t>Fuga lexica cuantificada en IEMOCAP guionizado</a:t>
            </a:r>
            <a:endParaRPr lang="en-US" sz="1500" dirty="0"/>
          </a:p>
        </p:txBody>
      </p:sp>
      <p:sp>
        <p:nvSpPr>
          <p:cNvPr id="8" name="Text 6"/>
          <p:cNvSpPr txBox="1"/>
          <p:nvPr/>
        </p:nvSpPr>
        <p:spPr>
          <a:xfrm>
            <a:off x="1426464" y="2194560"/>
            <a:ext cx="9966960" cy="384048"/>
          </a:xfrm>
          <a:prstGeom prst="rect">
            <a:avLst/>
          </a:prstGeom>
          <a:noFill/>
          <a:ln/>
        </p:spPr>
        <p:txBody>
          <a:bodyPr wrap="square" lIns="0" tIns="0" rIns="0" bIns="0" rtlCol="0" anchor="ctr"/>
          <a:lstStyle/>
          <a:p>
            <a:pPr indent="0" marL="0">
              <a:buNone/>
            </a:pPr>
            <a:r>
              <a:rPr lang="en-US" sz="1250" dirty="0">
                <a:solidFill>
                  <a:srgbClr val="2F3A4D"/>
                </a:solidFill>
              </a:rPr>
              <a:t>18.3 % / 23.3 % / 14.8 %. Explica por que las cifras de este subcampo no son comparables entre si.</a:t>
            </a:r>
            <a:endParaRPr lang="en-US" sz="1250" dirty="0"/>
          </a:p>
        </p:txBody>
      </p:sp>
      <p:sp>
        <p:nvSpPr>
          <p:cNvPr id="9" name="tarjeta_37"/>
          <p:cNvSpPr/>
          <p:nvPr/>
        </p:nvSpPr>
        <p:spPr>
          <a:xfrm>
            <a:off x="640080" y="2743200"/>
            <a:ext cx="10911535" cy="941832"/>
          </a:xfrm>
          <a:prstGeom prst="roundRect">
            <a:avLst>
              <a:gd name="adj" fmla="val 5825"/>
            </a:avLst>
          </a:prstGeom>
          <a:solidFill>
            <a:srgbClr val="FFFFFF"/>
          </a:solidFill>
          <a:ln w="12700">
            <a:solidFill>
              <a:srgbClr val="DCE3EB"/>
            </a:solidFill>
            <a:prstDash val="solid"/>
          </a:ln>
        </p:spPr>
      </p:sp>
      <p:sp>
        <p:nvSpPr>
          <p:cNvPr id="10" name="hall_1"/>
          <p:cNvSpPr/>
          <p:nvPr/>
        </p:nvSpPr>
        <p:spPr>
          <a:xfrm>
            <a:off x="932688" y="3044952"/>
            <a:ext cx="347472" cy="347472"/>
          </a:xfrm>
          <a:prstGeom prst="ellipse">
            <a:avLst/>
          </a:prstGeom>
          <a:solidFill>
            <a:srgbClr val="1C7293"/>
          </a:solidFill>
          <a:ln w="12700">
            <a:solidFill>
              <a:srgbClr val="1C7293"/>
            </a:solidFill>
            <a:prstDash val="solid"/>
          </a:ln>
        </p:spPr>
      </p:sp>
      <p:sp>
        <p:nvSpPr>
          <p:cNvPr id="11" name="Text 9"/>
          <p:cNvSpPr txBox="1"/>
          <p:nvPr/>
        </p:nvSpPr>
        <p:spPr>
          <a:xfrm>
            <a:off x="932688" y="304495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1426464" y="2889504"/>
            <a:ext cx="9966960" cy="329184"/>
          </a:xfrm>
          <a:prstGeom prst="rect">
            <a:avLst/>
          </a:prstGeom>
          <a:noFill/>
          <a:ln/>
        </p:spPr>
        <p:txBody>
          <a:bodyPr wrap="square" lIns="0" tIns="0" rIns="0" bIns="0" rtlCol="0" anchor="ctr"/>
          <a:lstStyle/>
          <a:p>
            <a:pPr indent="0" marL="0">
              <a:buNone/>
            </a:pPr>
            <a:r>
              <a:rPr lang="en-US" sz="1500" b="1" dirty="0">
                <a:solidFill>
                  <a:srgbClr val="0B3C5D"/>
                </a:solidFill>
              </a:rPr>
              <a:t>La σ entre folds es ruido de checkpoint, no del hablante</a:t>
            </a:r>
            <a:endParaRPr lang="en-US" sz="1500" dirty="0"/>
          </a:p>
        </p:txBody>
      </p:sp>
      <p:sp>
        <p:nvSpPr>
          <p:cNvPr id="13" name="Text 11"/>
          <p:cNvSpPr txBox="1"/>
          <p:nvPr/>
        </p:nvSpPr>
        <p:spPr>
          <a:xfrm>
            <a:off x="1426464" y="3218688"/>
            <a:ext cx="9966960" cy="384048"/>
          </a:xfrm>
          <a:prstGeom prst="rect">
            <a:avLst/>
          </a:prstGeom>
          <a:noFill/>
          <a:ln/>
        </p:spPr>
        <p:txBody>
          <a:bodyPr wrap="square" lIns="0" tIns="0" rIns="0" bIns="0" rtlCol="0" anchor="ctr"/>
          <a:lstStyle/>
          <a:p>
            <a:pPr indent="0" marL="0">
              <a:buNone/>
            </a:pPr>
            <a:r>
              <a:rPr lang="en-US" sz="1250" dirty="0">
                <a:solidFill>
                  <a:srgbClr val="2F3A4D"/>
                </a:solidFill>
              </a:rPr>
              <a:t>Un solo factor cambiado: validacion de un hablante → σ 5.02 pp; estratificada al 12 % → 2.68 pp, con la misma media. En WA, de 4.49 a 0.90.</a:t>
            </a:r>
            <a:endParaRPr lang="en-US" sz="1250" dirty="0"/>
          </a:p>
        </p:txBody>
      </p:sp>
      <p:sp>
        <p:nvSpPr>
          <p:cNvPr id="14" name="tarjeta_38"/>
          <p:cNvSpPr/>
          <p:nvPr/>
        </p:nvSpPr>
        <p:spPr>
          <a:xfrm>
            <a:off x="640080" y="3767328"/>
            <a:ext cx="10911535" cy="941832"/>
          </a:xfrm>
          <a:prstGeom prst="roundRect">
            <a:avLst>
              <a:gd name="adj" fmla="val 5825"/>
            </a:avLst>
          </a:prstGeom>
          <a:solidFill>
            <a:srgbClr val="FFFFFF"/>
          </a:solidFill>
          <a:ln w="12700">
            <a:solidFill>
              <a:srgbClr val="DCE3EB"/>
            </a:solidFill>
            <a:prstDash val="solid"/>
          </a:ln>
        </p:spPr>
      </p:sp>
      <p:sp>
        <p:nvSpPr>
          <p:cNvPr id="15" name="hall_2"/>
          <p:cNvSpPr/>
          <p:nvPr/>
        </p:nvSpPr>
        <p:spPr>
          <a:xfrm>
            <a:off x="932688" y="4069080"/>
            <a:ext cx="347472" cy="347472"/>
          </a:xfrm>
          <a:prstGeom prst="ellipse">
            <a:avLst/>
          </a:prstGeom>
          <a:solidFill>
            <a:srgbClr val="1C7293"/>
          </a:solidFill>
          <a:ln w="12700">
            <a:solidFill>
              <a:srgbClr val="1C7293"/>
            </a:solidFill>
            <a:prstDash val="solid"/>
          </a:ln>
        </p:spPr>
      </p:sp>
      <p:sp>
        <p:nvSpPr>
          <p:cNvPr id="16" name="Text 14"/>
          <p:cNvSpPr txBox="1"/>
          <p:nvPr/>
        </p:nvSpPr>
        <p:spPr>
          <a:xfrm>
            <a:off x="932688" y="40690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1426464" y="3913632"/>
            <a:ext cx="9966960" cy="329184"/>
          </a:xfrm>
          <a:prstGeom prst="rect">
            <a:avLst/>
          </a:prstGeom>
          <a:noFill/>
          <a:ln/>
        </p:spPr>
        <p:txBody>
          <a:bodyPr wrap="square" lIns="0" tIns="0" rIns="0" bIns="0" rtlCol="0" anchor="ctr"/>
          <a:lstStyle/>
          <a:p>
            <a:pPr indent="0" marL="0">
              <a:buNone/>
            </a:pPr>
            <a:r>
              <a:rPr lang="en-US" sz="1500" b="1" dirty="0">
                <a:solidFill>
                  <a:srgbClr val="0B3C5D"/>
                </a:solidFill>
              </a:rPr>
              <a:t>Los terciles globales de prosodia codifican al hablante</a:t>
            </a:r>
            <a:endParaRPr lang="en-US" sz="1500" dirty="0"/>
          </a:p>
        </p:txBody>
      </p:sp>
      <p:sp>
        <p:nvSpPr>
          <p:cNvPr id="18" name="Text 16"/>
          <p:cNvSpPr txBox="1"/>
          <p:nvPr/>
        </p:nvSpPr>
        <p:spPr>
          <a:xfrm>
            <a:off x="1426464" y="4242816"/>
            <a:ext cx="9966960" cy="384048"/>
          </a:xfrm>
          <a:prstGeom prst="rect">
            <a:avLst/>
          </a:prstGeom>
          <a:noFill/>
          <a:ln/>
        </p:spPr>
        <p:txBody>
          <a:bodyPr wrap="square" lIns="0" tIns="0" rIns="0" bIns="0" rtlCol="0" anchor="ctr"/>
          <a:lstStyle/>
          <a:p>
            <a:pPr indent="0" marL="0">
              <a:buNone/>
            </a:pPr>
            <a:r>
              <a:rPr lang="en-US" sz="1250" dirty="0">
                <a:solidFill>
                  <a:srgbClr val="2F3A4D"/>
                </a:solidFill>
              </a:rPr>
              <a:t>Con η² y la distribucion de tokens por genero. Afecta a cualquier trabajo que discretice prosodia, no solo al nuestro.</a:t>
            </a:r>
            <a:endParaRPr lang="en-US" sz="1250" dirty="0"/>
          </a:p>
        </p:txBody>
      </p:sp>
      <p:sp>
        <p:nvSpPr>
          <p:cNvPr id="19" name="tarjeta_39"/>
          <p:cNvSpPr/>
          <p:nvPr/>
        </p:nvSpPr>
        <p:spPr>
          <a:xfrm>
            <a:off x="640080" y="4791456"/>
            <a:ext cx="10911535" cy="941832"/>
          </a:xfrm>
          <a:prstGeom prst="roundRect">
            <a:avLst>
              <a:gd name="adj" fmla="val 5825"/>
            </a:avLst>
          </a:prstGeom>
          <a:solidFill>
            <a:srgbClr val="FFFFFF"/>
          </a:solidFill>
          <a:ln w="12700">
            <a:solidFill>
              <a:srgbClr val="DCE3EB"/>
            </a:solidFill>
            <a:prstDash val="solid"/>
          </a:ln>
        </p:spPr>
      </p:sp>
      <p:sp>
        <p:nvSpPr>
          <p:cNvPr id="20" name="hall_3"/>
          <p:cNvSpPr/>
          <p:nvPr/>
        </p:nvSpPr>
        <p:spPr>
          <a:xfrm>
            <a:off x="932688" y="5093208"/>
            <a:ext cx="347472" cy="347472"/>
          </a:xfrm>
          <a:prstGeom prst="ellipse">
            <a:avLst/>
          </a:prstGeom>
          <a:solidFill>
            <a:srgbClr val="1C7293"/>
          </a:solidFill>
          <a:ln w="12700">
            <a:solidFill>
              <a:srgbClr val="1C7293"/>
            </a:solidFill>
            <a:prstDash val="solid"/>
          </a:ln>
        </p:spPr>
      </p:sp>
      <p:sp>
        <p:nvSpPr>
          <p:cNvPr id="21" name="Text 19"/>
          <p:cNvSpPr txBox="1"/>
          <p:nvPr/>
        </p:nvSpPr>
        <p:spPr>
          <a:xfrm>
            <a:off x="932688" y="5093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txBox="1"/>
          <p:nvPr/>
        </p:nvSpPr>
        <p:spPr>
          <a:xfrm>
            <a:off x="1426464" y="4937760"/>
            <a:ext cx="9966960" cy="329184"/>
          </a:xfrm>
          <a:prstGeom prst="rect">
            <a:avLst/>
          </a:prstGeom>
          <a:noFill/>
          <a:ln/>
        </p:spPr>
        <p:txBody>
          <a:bodyPr wrap="square" lIns="0" tIns="0" rIns="0" bIns="0" rtlCol="0" anchor="ctr"/>
          <a:lstStyle/>
          <a:p>
            <a:pPr indent="0" marL="0">
              <a:buNone/>
            </a:pPr>
            <a:r>
              <a:rPr lang="en-US" sz="1500" b="1" dirty="0">
                <a:solidFill>
                  <a:srgbClr val="0B3C5D"/>
                </a:solidFill>
              </a:rPr>
              <a:t>Auditoria de MELD a nivel de archivo</a:t>
            </a:r>
            <a:endParaRPr lang="en-US" sz="1500" dirty="0"/>
          </a:p>
        </p:txBody>
      </p:sp>
      <p:sp>
        <p:nvSpPr>
          <p:cNvPr id="23" name="Text 21"/>
          <p:cNvSpPr txBox="1"/>
          <p:nvPr/>
        </p:nvSpPr>
        <p:spPr>
          <a:xfrm>
            <a:off x="1426464" y="5266944"/>
            <a:ext cx="9966960" cy="384048"/>
          </a:xfrm>
          <a:prstGeom prst="rect">
            <a:avLst/>
          </a:prstGeom>
          <a:noFill/>
          <a:ln/>
        </p:spPr>
        <p:txBody>
          <a:bodyPr wrap="square" lIns="0" tIns="0" rIns="0" bIns="0" rtlCol="0" anchor="ctr"/>
          <a:lstStyle/>
          <a:p>
            <a:pPr indent="0" marL="0">
              <a:buNone/>
            </a:pPr>
            <a:r>
              <a:rPr lang="en-US" sz="1250" dirty="0">
                <a:solidFill>
                  <a:srgbClr val="2F3A4D"/>
                </a:solidFill>
              </a:rPr>
              <a:t>Cuatro defectos que no estan publicados en ninguna fuente, incluido que el archivo que lee todo el mundo es el equivocado en 131 utterances de prueba.</a:t>
            </a:r>
            <a:endParaRPr lang="en-US" sz="1250" dirty="0"/>
          </a:p>
        </p:txBody>
      </p:sp>
      <p:sp>
        <p:nvSpPr>
          <p:cNvPr id="24" name="Text 22"/>
          <p:cNvSpPr txBox="1"/>
          <p:nvPr/>
        </p:nvSpPr>
        <p:spPr>
          <a:xfrm>
            <a:off x="640080" y="5797296"/>
            <a:ext cx="10911535" cy="457200"/>
          </a:xfrm>
          <a:prstGeom prst="rect">
            <a:avLst/>
          </a:prstGeom>
          <a:noFill/>
          <a:ln/>
        </p:spPr>
        <p:txBody>
          <a:bodyPr wrap="square" lIns="0" tIns="0" rIns="0" bIns="0" rtlCol="0" anchor="ctr"/>
          <a:lstStyle/>
          <a:p>
            <a:pPr indent="0" marL="0">
              <a:buNone/>
            </a:pPr>
            <a:r>
              <a:rPr lang="en-US" sz="1150" i="1" dirty="0">
                <a:solidFill>
                  <a:srgbClr val="6B7280"/>
                </a:solidFill>
              </a:rPr>
              <a:t>Marco del articulo: contribucion doble — una arquitectura que supera de forma medible a una linea base unimodal bien entrenada, y el aparato que hace esa afirmacion verificable.</a:t>
            </a:r>
            <a:endParaRPr lang="en-US" sz="115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0B3C5D"/>
                </a:solidFill>
              </a:rPr>
              <a:t>Lo que falta antes de enviar</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6B7280"/>
                </a:solidFill>
              </a:rPr>
              <a:t>Cuatro experimentos y el trabajo de redaccion. Dos de los experimentos los pidio R3 de forma explicita.</a:t>
            </a:r>
            <a:endParaRPr lang="en-US" sz="1400" dirty="0"/>
          </a:p>
        </p:txBody>
      </p:sp>
      <p:sp>
        <p:nvSpPr>
          <p:cNvPr id="4" name="tarjeta_40"/>
          <p:cNvSpPr/>
          <p:nvPr/>
        </p:nvSpPr>
        <p:spPr>
          <a:xfrm>
            <a:off x="640080" y="1783080"/>
            <a:ext cx="5394960" cy="1298448"/>
          </a:xfrm>
          <a:prstGeom prst="roundRect">
            <a:avLst>
              <a:gd name="adj" fmla="val 4225"/>
            </a:avLst>
          </a:prstGeom>
          <a:solidFill>
            <a:srgbClr val="FFFFFF"/>
          </a:solidFill>
          <a:ln w="12700">
            <a:solidFill>
              <a:srgbClr val="DCE3EB"/>
            </a:solidFill>
            <a:prstDash val="solid"/>
          </a:ln>
        </p:spPr>
      </p:sp>
      <p:sp>
        <p:nvSpPr>
          <p:cNvPr id="5" name="pastilla_41"/>
          <p:cNvSpPr/>
          <p:nvPr/>
        </p:nvSpPr>
        <p:spPr>
          <a:xfrm>
            <a:off x="896112" y="1965960"/>
            <a:ext cx="658368" cy="256032"/>
          </a:xfrm>
          <a:prstGeom prst="roundRect">
            <a:avLst>
              <a:gd name="adj" fmla="val 50000"/>
            </a:avLst>
          </a:prstGeom>
          <a:solidFill>
            <a:srgbClr val="C1663A"/>
          </a:solidFill>
          <a:ln w="12700">
            <a:solidFill>
              <a:srgbClr val="C1663A"/>
            </a:solidFill>
            <a:prstDash val="solid"/>
          </a:ln>
        </p:spPr>
      </p:sp>
      <p:sp>
        <p:nvSpPr>
          <p:cNvPr id="6" name="Text 4"/>
          <p:cNvSpPr txBox="1"/>
          <p:nvPr/>
        </p:nvSpPr>
        <p:spPr>
          <a:xfrm>
            <a:off x="896112" y="196596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rPr>
              <a:t>R3</a:t>
            </a:r>
            <a:endParaRPr lang="en-US" sz="900" dirty="0"/>
          </a:p>
        </p:txBody>
      </p:sp>
      <p:sp>
        <p:nvSpPr>
          <p:cNvPr id="7" name="Text 5"/>
          <p:cNvSpPr txBox="1"/>
          <p:nvPr/>
        </p:nvSpPr>
        <p:spPr>
          <a:xfrm>
            <a:off x="1645920" y="1929384"/>
            <a:ext cx="4206240" cy="320040"/>
          </a:xfrm>
          <a:prstGeom prst="rect">
            <a:avLst/>
          </a:prstGeom>
          <a:noFill/>
          <a:ln/>
        </p:spPr>
        <p:txBody>
          <a:bodyPr wrap="square" lIns="0" tIns="0" rIns="0" bIns="0" rtlCol="0" anchor="ctr"/>
          <a:lstStyle/>
          <a:p>
            <a:pPr indent="0" marL="0">
              <a:buNone/>
            </a:pPr>
            <a:r>
              <a:rPr lang="en-US" sz="1450" b="1" dirty="0">
                <a:solidFill>
                  <a:srgbClr val="0B3C5D"/>
                </a:solidFill>
              </a:rPr>
              <a:t>Condicion ASR con Whisper</a:t>
            </a:r>
            <a:endParaRPr lang="en-US" sz="1450" dirty="0"/>
          </a:p>
        </p:txBody>
      </p:sp>
      <p:sp>
        <p:nvSpPr>
          <p:cNvPr id="8" name="Text 6"/>
          <p:cNvSpPr txBox="1"/>
          <p:nvPr/>
        </p:nvSpPr>
        <p:spPr>
          <a:xfrm>
            <a:off x="1645920" y="2258568"/>
            <a:ext cx="4206240" cy="713232"/>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Sustituir la transcripcion de oro por ASR. Bajara el numero y se reporta igual: en MELD la literatura mide 60.9 → 51.5 de F1 ponderada.</a:t>
            </a:r>
            <a:endParaRPr lang="en-US" sz="1150" dirty="0"/>
          </a:p>
        </p:txBody>
      </p:sp>
      <p:sp>
        <p:nvSpPr>
          <p:cNvPr id="9" name="tarjeta_42"/>
          <p:cNvSpPr/>
          <p:nvPr/>
        </p:nvSpPr>
        <p:spPr>
          <a:xfrm>
            <a:off x="6236208" y="1783080"/>
            <a:ext cx="5394960" cy="1298448"/>
          </a:xfrm>
          <a:prstGeom prst="roundRect">
            <a:avLst>
              <a:gd name="adj" fmla="val 4225"/>
            </a:avLst>
          </a:prstGeom>
          <a:solidFill>
            <a:srgbClr val="FFFFFF"/>
          </a:solidFill>
          <a:ln w="12700">
            <a:solidFill>
              <a:srgbClr val="DCE3EB"/>
            </a:solidFill>
            <a:prstDash val="solid"/>
          </a:ln>
        </p:spPr>
      </p:sp>
      <p:sp>
        <p:nvSpPr>
          <p:cNvPr id="10" name="pastilla_43"/>
          <p:cNvSpPr/>
          <p:nvPr/>
        </p:nvSpPr>
        <p:spPr>
          <a:xfrm>
            <a:off x="6492240" y="1965960"/>
            <a:ext cx="658368" cy="256032"/>
          </a:xfrm>
          <a:prstGeom prst="roundRect">
            <a:avLst>
              <a:gd name="adj" fmla="val 50000"/>
            </a:avLst>
          </a:prstGeom>
          <a:solidFill>
            <a:srgbClr val="C1663A"/>
          </a:solidFill>
          <a:ln w="12700">
            <a:solidFill>
              <a:srgbClr val="C1663A"/>
            </a:solidFill>
            <a:prstDash val="solid"/>
          </a:ln>
        </p:spPr>
      </p:sp>
      <p:sp>
        <p:nvSpPr>
          <p:cNvPr id="11" name="Text 9"/>
          <p:cNvSpPr txBox="1"/>
          <p:nvPr/>
        </p:nvSpPr>
        <p:spPr>
          <a:xfrm>
            <a:off x="6492240" y="196596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rPr>
              <a:t>R3</a:t>
            </a:r>
            <a:endParaRPr lang="en-US" sz="900" dirty="0"/>
          </a:p>
        </p:txBody>
      </p:sp>
      <p:sp>
        <p:nvSpPr>
          <p:cNvPr id="12" name="Text 10"/>
          <p:cNvSpPr txBox="1"/>
          <p:nvPr/>
        </p:nvSpPr>
        <p:spPr>
          <a:xfrm>
            <a:off x="7242048" y="1929384"/>
            <a:ext cx="4206240" cy="320040"/>
          </a:xfrm>
          <a:prstGeom prst="rect">
            <a:avLst/>
          </a:prstGeom>
          <a:noFill/>
          <a:ln/>
        </p:spPr>
        <p:txBody>
          <a:bodyPr wrap="square" lIns="0" tIns="0" rIns="0" bIns="0" rtlCol="0" anchor="ctr"/>
          <a:lstStyle/>
          <a:p>
            <a:pPr indent="0" marL="0">
              <a:buNone/>
            </a:pPr>
            <a:r>
              <a:rPr lang="en-US" sz="1450" b="1" dirty="0">
                <a:solidFill>
                  <a:srgbClr val="0B3C5D"/>
                </a:solidFill>
              </a:rPr>
              <a:t>Linea base de audio-LLM</a:t>
            </a:r>
            <a:endParaRPr lang="en-US" sz="1450" dirty="0"/>
          </a:p>
        </p:txBody>
      </p:sp>
      <p:sp>
        <p:nvSpPr>
          <p:cNvPr id="13" name="Text 11"/>
          <p:cNvSpPr txBox="1"/>
          <p:nvPr/>
        </p:nvSpPr>
        <p:spPr>
          <a:xfrm>
            <a:off x="7242048" y="2258568"/>
            <a:ext cx="4206240" cy="713232"/>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Phi-4, Qwen3 o Flamingo3 evaluados por nosotros bajo el mismo protocolo. Es la comparacion que R3 considero indispensable.</a:t>
            </a:r>
            <a:endParaRPr lang="en-US" sz="1150" dirty="0"/>
          </a:p>
        </p:txBody>
      </p:sp>
      <p:sp>
        <p:nvSpPr>
          <p:cNvPr id="14" name="tarjeta_44"/>
          <p:cNvSpPr/>
          <p:nvPr/>
        </p:nvSpPr>
        <p:spPr>
          <a:xfrm>
            <a:off x="640080" y="3246120"/>
            <a:ext cx="5394960" cy="1298448"/>
          </a:xfrm>
          <a:prstGeom prst="roundRect">
            <a:avLst>
              <a:gd name="adj" fmla="val 4225"/>
            </a:avLst>
          </a:prstGeom>
          <a:solidFill>
            <a:srgbClr val="FFFFFF"/>
          </a:solidFill>
          <a:ln w="12700">
            <a:solidFill>
              <a:srgbClr val="DCE3EB"/>
            </a:solidFill>
            <a:prstDash val="solid"/>
          </a:ln>
        </p:spPr>
      </p:sp>
      <p:sp>
        <p:nvSpPr>
          <p:cNvPr id="15" name="pastilla_45"/>
          <p:cNvSpPr/>
          <p:nvPr/>
        </p:nvSpPr>
        <p:spPr>
          <a:xfrm>
            <a:off x="896112" y="3429000"/>
            <a:ext cx="658368" cy="256032"/>
          </a:xfrm>
          <a:prstGeom prst="roundRect">
            <a:avLst>
              <a:gd name="adj" fmla="val 50000"/>
            </a:avLst>
          </a:prstGeom>
          <a:solidFill>
            <a:srgbClr val="1C7293"/>
          </a:solidFill>
          <a:ln w="12700">
            <a:solidFill>
              <a:srgbClr val="1C7293"/>
            </a:solidFill>
            <a:prstDash val="solid"/>
          </a:ln>
        </p:spPr>
      </p:sp>
      <p:sp>
        <p:nvSpPr>
          <p:cNvPr id="16" name="Text 14"/>
          <p:cNvSpPr txBox="1"/>
          <p:nvPr/>
        </p:nvSpPr>
        <p:spPr>
          <a:xfrm>
            <a:off x="896112" y="342900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rPr>
              <a:t>propio</a:t>
            </a:r>
            <a:endParaRPr lang="en-US" sz="900" dirty="0"/>
          </a:p>
        </p:txBody>
      </p:sp>
      <p:sp>
        <p:nvSpPr>
          <p:cNvPr id="17" name="Text 15"/>
          <p:cNvSpPr txBox="1"/>
          <p:nvPr/>
        </p:nvSpPr>
        <p:spPr>
          <a:xfrm>
            <a:off x="1645920" y="3392424"/>
            <a:ext cx="4206240" cy="320040"/>
          </a:xfrm>
          <a:prstGeom prst="rect">
            <a:avLst/>
          </a:prstGeom>
          <a:noFill/>
          <a:ln/>
        </p:spPr>
        <p:txBody>
          <a:bodyPr wrap="square" lIns="0" tIns="0" rIns="0" bIns="0" rtlCol="0" anchor="ctr"/>
          <a:lstStyle/>
          <a:p>
            <a:pPr indent="0" marL="0">
              <a:buNone/>
            </a:pPr>
            <a:r>
              <a:rPr lang="en-US" sz="1450" b="1" dirty="0">
                <a:solidFill>
                  <a:srgbClr val="0B3C5D"/>
                </a:solidFill>
              </a:rPr>
              <a:t>MELD en 7 clases</a:t>
            </a:r>
            <a:endParaRPr lang="en-US" sz="1450" dirty="0"/>
          </a:p>
        </p:txBody>
      </p:sp>
      <p:sp>
        <p:nvSpPr>
          <p:cNvPr id="18" name="Text 16"/>
          <p:cNvSpPr txBox="1"/>
          <p:nvPr/>
        </p:nvSpPr>
        <p:spPr>
          <a:xfrm>
            <a:off x="1645920" y="3721608"/>
            <a:ext cx="4206240" cy="713232"/>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Para tener la fila comparable con la literatura, que reporta F1 ponderada sobre siete clases. Nuestro numero de 4 clases no lo es.</a:t>
            </a:r>
            <a:endParaRPr lang="en-US" sz="1150" dirty="0"/>
          </a:p>
        </p:txBody>
      </p:sp>
      <p:sp>
        <p:nvSpPr>
          <p:cNvPr id="19" name="tarjeta_46"/>
          <p:cNvSpPr/>
          <p:nvPr/>
        </p:nvSpPr>
        <p:spPr>
          <a:xfrm>
            <a:off x="6236208" y="3246120"/>
            <a:ext cx="5394960" cy="1298448"/>
          </a:xfrm>
          <a:prstGeom prst="roundRect">
            <a:avLst>
              <a:gd name="adj" fmla="val 4225"/>
            </a:avLst>
          </a:prstGeom>
          <a:solidFill>
            <a:srgbClr val="FFFFFF"/>
          </a:solidFill>
          <a:ln w="12700">
            <a:solidFill>
              <a:srgbClr val="DCE3EB"/>
            </a:solidFill>
            <a:prstDash val="solid"/>
          </a:ln>
        </p:spPr>
      </p:sp>
      <p:sp>
        <p:nvSpPr>
          <p:cNvPr id="20" name="pastilla_47"/>
          <p:cNvSpPr/>
          <p:nvPr/>
        </p:nvSpPr>
        <p:spPr>
          <a:xfrm>
            <a:off x="6492240" y="3429000"/>
            <a:ext cx="658368" cy="256032"/>
          </a:xfrm>
          <a:prstGeom prst="roundRect">
            <a:avLst>
              <a:gd name="adj" fmla="val 50000"/>
            </a:avLst>
          </a:prstGeom>
          <a:solidFill>
            <a:srgbClr val="1C7293"/>
          </a:solidFill>
          <a:ln w="12700">
            <a:solidFill>
              <a:srgbClr val="1C7293"/>
            </a:solidFill>
            <a:prstDash val="solid"/>
          </a:ln>
        </p:spPr>
      </p:sp>
      <p:sp>
        <p:nvSpPr>
          <p:cNvPr id="21" name="Text 19"/>
          <p:cNvSpPr txBox="1"/>
          <p:nvPr/>
        </p:nvSpPr>
        <p:spPr>
          <a:xfrm>
            <a:off x="6492240" y="342900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rPr>
              <a:t>propio</a:t>
            </a:r>
            <a:endParaRPr lang="en-US" sz="900" dirty="0"/>
          </a:p>
        </p:txBody>
      </p:sp>
      <p:sp>
        <p:nvSpPr>
          <p:cNvPr id="22" name="Text 20"/>
          <p:cNvSpPr txBox="1"/>
          <p:nvPr/>
        </p:nvSpPr>
        <p:spPr>
          <a:xfrm>
            <a:off x="7242048" y="3392424"/>
            <a:ext cx="4206240" cy="320040"/>
          </a:xfrm>
          <a:prstGeom prst="rect">
            <a:avLst/>
          </a:prstGeom>
          <a:noFill/>
          <a:ln/>
        </p:spPr>
        <p:txBody>
          <a:bodyPr wrap="square" lIns="0" tIns="0" rIns="0" bIns="0" rtlCol="0" anchor="ctr"/>
          <a:lstStyle/>
          <a:p>
            <a:pPr indent="0" marL="0">
              <a:buNone/>
            </a:pPr>
            <a:r>
              <a:rPr lang="en-US" sz="1450" b="1" dirty="0">
                <a:solidFill>
                  <a:srgbClr val="0B3C5D"/>
                </a:solidFill>
              </a:rPr>
              <a:t>Semilla 123 del solo-audio en MELD</a:t>
            </a:r>
            <a:endParaRPr lang="en-US" sz="1450" dirty="0"/>
          </a:p>
        </p:txBody>
      </p:sp>
      <p:sp>
        <p:nvSpPr>
          <p:cNvPr id="23" name="Text 21"/>
          <p:cNvSpPr txBox="1"/>
          <p:nvPr/>
        </p:nvSpPr>
        <p:spPr>
          <a:xfrm>
            <a:off x="7242048" y="3721608"/>
            <a:ext cx="4206240" cy="713232"/>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Para cerrar el delta con dos semillas por condicion y la banda de ± 1.7 pp.</a:t>
            </a:r>
            <a:endParaRPr lang="en-US" sz="1150" dirty="0"/>
          </a:p>
        </p:txBody>
      </p:sp>
      <p:sp>
        <p:nvSpPr>
          <p:cNvPr id="24" name="tarjeta_48"/>
          <p:cNvSpPr/>
          <p:nvPr/>
        </p:nvSpPr>
        <p:spPr>
          <a:xfrm>
            <a:off x="640080" y="4709160"/>
            <a:ext cx="5394960" cy="1298448"/>
          </a:xfrm>
          <a:prstGeom prst="roundRect">
            <a:avLst>
              <a:gd name="adj" fmla="val 4225"/>
            </a:avLst>
          </a:prstGeom>
          <a:solidFill>
            <a:srgbClr val="FFFFFF"/>
          </a:solidFill>
          <a:ln w="12700">
            <a:solidFill>
              <a:srgbClr val="DCE3EB"/>
            </a:solidFill>
            <a:prstDash val="solid"/>
          </a:ln>
        </p:spPr>
      </p:sp>
      <p:sp>
        <p:nvSpPr>
          <p:cNvPr id="25" name="pastilla_49"/>
          <p:cNvSpPr/>
          <p:nvPr/>
        </p:nvSpPr>
        <p:spPr>
          <a:xfrm>
            <a:off x="896112" y="4892040"/>
            <a:ext cx="658368" cy="256032"/>
          </a:xfrm>
          <a:prstGeom prst="roundRect">
            <a:avLst>
              <a:gd name="adj" fmla="val 50000"/>
            </a:avLst>
          </a:prstGeom>
          <a:solidFill>
            <a:srgbClr val="6B7280"/>
          </a:solidFill>
          <a:ln w="12700">
            <a:solidFill>
              <a:srgbClr val="6B7280"/>
            </a:solidFill>
            <a:prstDash val="solid"/>
          </a:ln>
        </p:spPr>
      </p:sp>
      <p:sp>
        <p:nvSpPr>
          <p:cNvPr id="26" name="Text 24"/>
          <p:cNvSpPr txBox="1"/>
          <p:nvPr/>
        </p:nvSpPr>
        <p:spPr>
          <a:xfrm>
            <a:off x="896112" y="489204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rPr>
              <a:t>R1</a:t>
            </a:r>
            <a:endParaRPr lang="en-US" sz="900" dirty="0"/>
          </a:p>
        </p:txBody>
      </p:sp>
      <p:sp>
        <p:nvSpPr>
          <p:cNvPr id="27" name="Text 25"/>
          <p:cNvSpPr txBox="1"/>
          <p:nvPr/>
        </p:nvSpPr>
        <p:spPr>
          <a:xfrm>
            <a:off x="1645920" y="4855464"/>
            <a:ext cx="4206240" cy="320040"/>
          </a:xfrm>
          <a:prstGeom prst="rect">
            <a:avLst/>
          </a:prstGeom>
          <a:noFill/>
          <a:ln/>
        </p:spPr>
        <p:txBody>
          <a:bodyPr wrap="square" lIns="0" tIns="0" rIns="0" bIns="0" rtlCol="0" anchor="ctr"/>
          <a:lstStyle/>
          <a:p>
            <a:pPr indent="0" marL="0">
              <a:buNone/>
            </a:pPr>
            <a:r>
              <a:rPr lang="en-US" sz="1450" b="1" dirty="0">
                <a:solidFill>
                  <a:srgbClr val="0B3C5D"/>
                </a:solidFill>
              </a:rPr>
              <a:t>Numeracion de referencias y erratas</a:t>
            </a:r>
            <a:endParaRPr lang="en-US" sz="1450" dirty="0"/>
          </a:p>
        </p:txBody>
      </p:sp>
      <p:sp>
        <p:nvSpPr>
          <p:cNvPr id="28" name="Text 26"/>
          <p:cNvSpPr txBox="1"/>
          <p:nvPr/>
        </p:nvSpPr>
        <p:spPr>
          <a:xfrm>
            <a:off x="1645920" y="5184648"/>
            <a:ext cx="4206240" cy="713232"/>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Objeccion explicita de R1: la numeracion es inconsistente entre introduccion, seccion 2.3 y bibliografia.</a:t>
            </a:r>
            <a:endParaRPr lang="en-US" sz="1150" dirty="0"/>
          </a:p>
        </p:txBody>
      </p:sp>
      <p:sp>
        <p:nvSpPr>
          <p:cNvPr id="29" name="tarjeta_50"/>
          <p:cNvSpPr/>
          <p:nvPr/>
        </p:nvSpPr>
        <p:spPr>
          <a:xfrm>
            <a:off x="6236208" y="4709160"/>
            <a:ext cx="5394960" cy="1298448"/>
          </a:xfrm>
          <a:prstGeom prst="roundRect">
            <a:avLst>
              <a:gd name="adj" fmla="val 4225"/>
            </a:avLst>
          </a:prstGeom>
          <a:solidFill>
            <a:srgbClr val="FFFFFF"/>
          </a:solidFill>
          <a:ln w="12700">
            <a:solidFill>
              <a:srgbClr val="DCE3EB"/>
            </a:solidFill>
            <a:prstDash val="solid"/>
          </a:ln>
        </p:spPr>
      </p:sp>
      <p:sp>
        <p:nvSpPr>
          <p:cNvPr id="30" name="pastilla_51"/>
          <p:cNvSpPr/>
          <p:nvPr/>
        </p:nvSpPr>
        <p:spPr>
          <a:xfrm>
            <a:off x="6492240" y="4892040"/>
            <a:ext cx="658368" cy="256032"/>
          </a:xfrm>
          <a:prstGeom prst="roundRect">
            <a:avLst>
              <a:gd name="adj" fmla="val 50000"/>
            </a:avLst>
          </a:prstGeom>
          <a:solidFill>
            <a:srgbClr val="6B7280"/>
          </a:solidFill>
          <a:ln w="12700">
            <a:solidFill>
              <a:srgbClr val="6B7280"/>
            </a:solidFill>
            <a:prstDash val="solid"/>
          </a:ln>
        </p:spPr>
      </p:sp>
      <p:sp>
        <p:nvSpPr>
          <p:cNvPr id="31" name="Text 29"/>
          <p:cNvSpPr txBox="1"/>
          <p:nvPr/>
        </p:nvSpPr>
        <p:spPr>
          <a:xfrm>
            <a:off x="6492240" y="489204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rPr>
              <a:t>propio</a:t>
            </a:r>
            <a:endParaRPr lang="en-US" sz="900" dirty="0"/>
          </a:p>
        </p:txBody>
      </p:sp>
      <p:sp>
        <p:nvSpPr>
          <p:cNvPr id="32" name="Text 30"/>
          <p:cNvSpPr txBox="1"/>
          <p:nvPr/>
        </p:nvSpPr>
        <p:spPr>
          <a:xfrm>
            <a:off x="7242048" y="4855464"/>
            <a:ext cx="4206240" cy="320040"/>
          </a:xfrm>
          <a:prstGeom prst="rect">
            <a:avLst/>
          </a:prstGeom>
          <a:noFill/>
          <a:ln/>
        </p:spPr>
        <p:txBody>
          <a:bodyPr wrap="square" lIns="0" tIns="0" rIns="0" bIns="0" rtlCol="0" anchor="ctr"/>
          <a:lstStyle/>
          <a:p>
            <a:pPr indent="0" marL="0">
              <a:buNone/>
            </a:pPr>
            <a:r>
              <a:rPr lang="en-US" sz="1450" b="1" dirty="0">
                <a:solidFill>
                  <a:srgbClr val="0B3C5D"/>
                </a:solidFill>
              </a:rPr>
              <a:t>Reescritura completa del texto</a:t>
            </a:r>
            <a:endParaRPr lang="en-US" sz="1450" dirty="0"/>
          </a:p>
        </p:txBody>
      </p:sp>
      <p:sp>
        <p:nvSpPr>
          <p:cNvPr id="33" name="Text 31"/>
          <p:cNvSpPr txBox="1"/>
          <p:nvPr/>
        </p:nvSpPr>
        <p:spPr>
          <a:xfrm>
            <a:off x="7242048" y="5184648"/>
            <a:ext cx="4206240" cy="713232"/>
          </a:xfrm>
          <a:prstGeom prst="rect">
            <a:avLst/>
          </a:prstGeom>
          <a:noFill/>
          <a:ln/>
        </p:spPr>
        <p:txBody>
          <a:bodyPr wrap="square" lIns="0" tIns="0" rIns="0" bIns="0" rtlCol="0" anchor="ctr"/>
          <a:lstStyle/>
          <a:p>
            <a:pPr indent="0" marL="0">
              <a:lnSpc>
                <a:spcPts val="1400"/>
              </a:lnSpc>
              <a:buNone/>
            </a:pPr>
            <a:r>
              <a:rPr lang="en-US" sz="1150" dirty="0">
                <a:solidFill>
                  <a:srgbClr val="2F3A4D"/>
                </a:solidFill>
              </a:rPr>
              <a:t>Plan seccion por seccion ya escrito en docs/REWRITE_NOTES.md, con la procedencia de cada cifra.</a:t>
            </a:r>
            <a:endParaRPr lang="en-US" sz="115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911535" cy="713232"/>
          </a:xfrm>
          <a:prstGeom prst="rect">
            <a:avLst/>
          </a:prstGeom>
          <a:noFill/>
          <a:ln/>
        </p:spPr>
        <p:txBody>
          <a:bodyPr wrap="square" rtlCol="0" anchor="ctr"/>
          <a:lstStyle/>
          <a:p>
            <a:pPr algn="l" indent="0" marL="0">
              <a:buNone/>
            </a:pPr>
            <a:r>
              <a:rPr lang="en-US" sz="3000" b="1" dirty="0">
                <a:solidFill>
                  <a:srgbClr val="FFFFFF"/>
                </a:solidFill>
              </a:rPr>
              <a:t>Lo que necesito de la reunion</a:t>
            </a:r>
            <a:endParaRPr lang="en-US" sz="3000" dirty="0"/>
          </a:p>
        </p:txBody>
      </p:sp>
      <p:sp>
        <p:nvSpPr>
          <p:cNvPr id="3" name="Text 0"/>
          <p:cNvSpPr/>
          <p:nvPr>
            <p:ph idx="101" type="body" hasCustomPrompt="1"/>
          </p:nvPr>
        </p:nvSpPr>
        <p:spPr>
          <a:xfrm>
            <a:off x="640080" y="1152144"/>
            <a:ext cx="10911535" cy="457200"/>
          </a:xfrm>
          <a:prstGeom prst="rect">
            <a:avLst/>
          </a:prstGeom>
          <a:noFill/>
          <a:ln/>
        </p:spPr>
        <p:txBody>
          <a:bodyPr wrap="square" rtlCol="0" anchor="t"/>
          <a:lstStyle/>
          <a:p>
            <a:pPr algn="l" indent="0" marL="0">
              <a:buNone/>
            </a:pPr>
            <a:r>
              <a:rPr lang="en-US" sz="1400" dirty="0">
                <a:solidFill>
                  <a:srgbClr val="A9C0D4"/>
                </a:solidFill>
              </a:rPr>
              <a:t>Un tramite que no puedo hacer solo, y dos decisiones que son suyas.</a:t>
            </a:r>
            <a:endParaRPr lang="en-US" sz="1400" dirty="0"/>
          </a:p>
        </p:txBody>
      </p:sp>
      <p:sp>
        <p:nvSpPr>
          <p:cNvPr id="4" name="tarjeta_52"/>
          <p:cNvSpPr/>
          <p:nvPr/>
        </p:nvSpPr>
        <p:spPr>
          <a:xfrm>
            <a:off x="640080" y="1783080"/>
            <a:ext cx="5394960" cy="3346704"/>
          </a:xfrm>
          <a:prstGeom prst="roundRect">
            <a:avLst>
              <a:gd name="adj" fmla="val 1639"/>
            </a:avLst>
          </a:prstGeom>
          <a:solidFill>
            <a:srgbClr val="FFFFFF"/>
          </a:solidFill>
          <a:ln w="12700">
            <a:solidFill>
              <a:srgbClr val="FFFFFF"/>
            </a:solidFill>
            <a:prstDash val="solid"/>
          </a:ln>
        </p:spPr>
      </p:sp>
      <p:sp>
        <p:nvSpPr>
          <p:cNvPr id="5" name="pastilla_53"/>
          <p:cNvSpPr/>
          <p:nvPr/>
        </p:nvSpPr>
        <p:spPr>
          <a:xfrm>
            <a:off x="914400" y="2011680"/>
            <a:ext cx="1737360" cy="256032"/>
          </a:xfrm>
          <a:prstGeom prst="roundRect">
            <a:avLst>
              <a:gd name="adj" fmla="val 50000"/>
            </a:avLst>
          </a:prstGeom>
          <a:solidFill>
            <a:srgbClr val="8C2F39"/>
          </a:solidFill>
          <a:ln w="12700">
            <a:solidFill>
              <a:srgbClr val="8C2F39"/>
            </a:solidFill>
            <a:prstDash val="solid"/>
          </a:ln>
        </p:spPr>
      </p:sp>
      <p:sp>
        <p:nvSpPr>
          <p:cNvPr id="6" name="Text 4"/>
          <p:cNvSpPr txBox="1"/>
          <p:nvPr/>
        </p:nvSpPr>
        <p:spPr>
          <a:xfrm>
            <a:off x="914400" y="2011680"/>
            <a:ext cx="1737360" cy="256032"/>
          </a:xfrm>
          <a:prstGeom prst="rect">
            <a:avLst/>
          </a:prstGeom>
          <a:noFill/>
          <a:ln/>
        </p:spPr>
        <p:txBody>
          <a:bodyPr wrap="square" lIns="0" tIns="0" rIns="0" bIns="0" rtlCol="0" anchor="ctr"/>
          <a:lstStyle/>
          <a:p>
            <a:pPr algn="ctr" indent="0" marL="0">
              <a:buNone/>
            </a:pPr>
            <a:r>
              <a:rPr lang="en-US" sz="1000" b="1" dirty="0">
                <a:solidFill>
                  <a:srgbClr val="FFFFFF"/>
                </a:solidFill>
              </a:rPr>
              <a:t>BLOQUEO REAL</a:t>
            </a:r>
            <a:endParaRPr lang="en-US" sz="1000" dirty="0"/>
          </a:p>
        </p:txBody>
      </p:sp>
      <p:sp>
        <p:nvSpPr>
          <p:cNvPr id="7" name="Text 5"/>
          <p:cNvSpPr txBox="1"/>
          <p:nvPr/>
        </p:nvSpPr>
        <p:spPr>
          <a:xfrm>
            <a:off x="914400" y="2377440"/>
            <a:ext cx="4846320" cy="411480"/>
          </a:xfrm>
          <a:prstGeom prst="rect">
            <a:avLst/>
          </a:prstGeom>
          <a:noFill/>
          <a:ln/>
        </p:spPr>
        <p:txBody>
          <a:bodyPr wrap="square" lIns="0" tIns="0" rIns="0" bIns="0" rtlCol="0" anchor="ctr"/>
          <a:lstStyle/>
          <a:p>
            <a:pPr indent="0" marL="0">
              <a:buNone/>
            </a:pPr>
            <a:r>
              <a:rPr lang="en-US" sz="2100" b="1" dirty="0">
                <a:solidFill>
                  <a:srgbClr val="0B3C5D"/>
                </a:solidFill>
              </a:rPr>
              <a:t>Licencia de MSP-IMPROV</a:t>
            </a:r>
            <a:endParaRPr lang="en-US" sz="2100" dirty="0"/>
          </a:p>
        </p:txBody>
      </p:sp>
      <p:sp>
        <p:nvSpPr>
          <p:cNvPr id="8" name="Text 6"/>
          <p:cNvSpPr txBox="1"/>
          <p:nvPr/>
        </p:nvSpPr>
        <p:spPr>
          <a:xfrm>
            <a:off x="914400" y="2816352"/>
            <a:ext cx="4846320" cy="1645920"/>
          </a:xfrm>
          <a:prstGeom prst="rect">
            <a:avLst/>
          </a:prstGeom>
          <a:noFill/>
          <a:ln/>
        </p:spPr>
        <p:txBody>
          <a:bodyPr wrap="square" lIns="0" tIns="0" rIns="0" bIns="0" rtlCol="0" anchor="ctr"/>
          <a:lstStyle/>
          <a:p>
            <a:pPr indent="0" marL="0">
              <a:lnSpc>
                <a:spcPts val="1700"/>
              </a:lnSpc>
              <a:buNone/>
            </a:pPr>
            <a:r>
              <a:rPr lang="en-US" sz="1300" dirty="0">
                <a:solidFill>
                  <a:srgbClr val="2F3A4D"/>
                </a:solidFill>
              </a:rPr>
              <a:t>El procedimiento exige que el acuerdo lo firme el </a:t>
            </a:r>
            <a:pPr indent="0" marL="0">
              <a:lnSpc>
                <a:spcPts val="1700"/>
              </a:lnSpc>
              <a:buNone/>
            </a:pPr>
            <a:r>
              <a:rPr lang="en-US" sz="1300" b="1" dirty="0">
                <a:solidFill>
                  <a:srgbClr val="8C2F39"/>
                </a:solidFill>
              </a:rPr>
              <a:t>director del grupo de investigacion</a:t>
            </a:r>
            <a:pPr indent="0" marL="0">
              <a:lnSpc>
                <a:spcPts val="1700"/>
              </a:lnSpc>
              <a:buNone/>
            </a:pPr>
            <a:r>
              <a:rPr lang="en-US" sz="1300" dirty="0">
                <a:solidFill>
                  <a:srgbClr val="2F3A4D"/>
                </a:solidFill>
              </a:rPr>
              <a:t> y se envie a Carlos Busso desde una direccion institucional. No lo puedo tramitar yo.</a:t>
            </a:r>
            <a:endParaRPr lang="en-US" sz="1300" dirty="0"/>
          </a:p>
          <a:p>
            <a:pPr indent="0" marL="0">
              <a:lnSpc>
                <a:spcPts val="1700"/>
              </a:lnSpc>
              <a:buNone/>
            </a:pPr>
            <a:endParaRPr lang="en-US" sz="1300" dirty="0"/>
          </a:p>
          <a:p>
            <a:pPr indent="0" marL="0">
              <a:lnSpc>
                <a:spcPts val="1700"/>
              </a:lnSpc>
              <a:buNone/>
            </a:pPr>
            <a:r>
              <a:rPr lang="en-US" sz="1300" dirty="0">
                <a:solidFill>
                  <a:srgbClr val="2F3A4D"/>
                </a:solidFill>
              </a:rPr>
              <a:t>Es la celda que falta del diseno: espontaneo, audio limpio de estudio y texto por ASR. Es el unico corpus que separa “el aporte es lexico” de “CREMA-D era actuado y facil”.</a:t>
            </a:r>
            <a:endParaRPr lang="en-US" sz="1300" dirty="0"/>
          </a:p>
        </p:txBody>
      </p:sp>
      <p:sp>
        <p:nvSpPr>
          <p:cNvPr id="9" name="Text 7"/>
          <p:cNvSpPr txBox="1"/>
          <p:nvPr/>
        </p:nvSpPr>
        <p:spPr>
          <a:xfrm>
            <a:off x="914400" y="4535424"/>
            <a:ext cx="4846320" cy="457200"/>
          </a:xfrm>
          <a:prstGeom prst="rect">
            <a:avLst/>
          </a:prstGeom>
          <a:noFill/>
          <a:ln/>
        </p:spPr>
        <p:txBody>
          <a:bodyPr wrap="square" lIns="0" tIns="0" rIns="0" bIns="0" rtlCol="0" anchor="ctr"/>
          <a:lstStyle/>
          <a:p>
            <a:pPr indent="0" marL="0">
              <a:buNone/>
            </a:pPr>
            <a:r>
              <a:rPr lang="en-US" sz="1050" i="1" dirty="0">
                <a:solidFill>
                  <a:srgbClr val="6B7280"/>
                </a:solidFill>
              </a:rPr>
              <a:t>Borrador del correo y procedimiento verificado: docs/SOLICITUD_MSP_IMPROV.md</a:t>
            </a:r>
            <a:endParaRPr lang="en-US" sz="1050" dirty="0"/>
          </a:p>
        </p:txBody>
      </p:sp>
      <p:sp>
        <p:nvSpPr>
          <p:cNvPr id="10" name="tarjeta_54"/>
          <p:cNvSpPr/>
          <p:nvPr/>
        </p:nvSpPr>
        <p:spPr>
          <a:xfrm>
            <a:off x="6236208" y="1783080"/>
            <a:ext cx="5394960" cy="1417320"/>
          </a:xfrm>
          <a:prstGeom prst="roundRect">
            <a:avLst>
              <a:gd name="adj" fmla="val 3871"/>
            </a:avLst>
          </a:prstGeom>
          <a:solidFill>
            <a:srgbClr val="17486B"/>
          </a:solidFill>
          <a:ln w="12700">
            <a:solidFill>
              <a:srgbClr val="17486B"/>
            </a:solidFill>
            <a:prstDash val="solid"/>
          </a:ln>
        </p:spPr>
      </p:sp>
      <p:sp>
        <p:nvSpPr>
          <p:cNvPr id="11" name="pastilla_55"/>
          <p:cNvSpPr/>
          <p:nvPr/>
        </p:nvSpPr>
        <p:spPr>
          <a:xfrm>
            <a:off x="6510528" y="1965960"/>
            <a:ext cx="1188720" cy="256032"/>
          </a:xfrm>
          <a:prstGeom prst="roundRect">
            <a:avLst>
              <a:gd name="adj" fmla="val 50000"/>
            </a:avLst>
          </a:prstGeom>
          <a:solidFill>
            <a:srgbClr val="C1663A"/>
          </a:solidFill>
          <a:ln w="12700">
            <a:solidFill>
              <a:srgbClr val="C1663A"/>
            </a:solidFill>
            <a:prstDash val="solid"/>
          </a:ln>
        </p:spPr>
      </p:sp>
      <p:sp>
        <p:nvSpPr>
          <p:cNvPr id="12" name="Text 10"/>
          <p:cNvSpPr txBox="1"/>
          <p:nvPr/>
        </p:nvSpPr>
        <p:spPr>
          <a:xfrm>
            <a:off x="6510528" y="1965960"/>
            <a:ext cx="1188720" cy="256032"/>
          </a:xfrm>
          <a:prstGeom prst="rect">
            <a:avLst/>
          </a:prstGeom>
          <a:noFill/>
          <a:ln/>
        </p:spPr>
        <p:txBody>
          <a:bodyPr wrap="square" lIns="0" tIns="0" rIns="0" bIns="0" rtlCol="0" anchor="ctr"/>
          <a:lstStyle/>
          <a:p>
            <a:pPr algn="ctr" indent="0" marL="0">
              <a:buNone/>
            </a:pPr>
            <a:r>
              <a:rPr lang="en-US" sz="900" b="1" dirty="0">
                <a:solidFill>
                  <a:srgbClr val="FFFFFF"/>
                </a:solidFill>
              </a:rPr>
              <a:t>DECISION</a:t>
            </a:r>
            <a:endParaRPr lang="en-US" sz="900" dirty="0"/>
          </a:p>
        </p:txBody>
      </p:sp>
      <p:sp>
        <p:nvSpPr>
          <p:cNvPr id="13" name="Text 11"/>
          <p:cNvSpPr txBox="1"/>
          <p:nvPr/>
        </p:nvSpPr>
        <p:spPr>
          <a:xfrm>
            <a:off x="7818120" y="1929384"/>
            <a:ext cx="3657600" cy="320040"/>
          </a:xfrm>
          <a:prstGeom prst="rect">
            <a:avLst/>
          </a:prstGeom>
          <a:noFill/>
          <a:ln/>
        </p:spPr>
        <p:txBody>
          <a:bodyPr wrap="square" lIns="0" tIns="0" rIns="0" bIns="0" rtlCol="0" anchor="ctr"/>
          <a:lstStyle/>
          <a:p>
            <a:pPr indent="0" marL="0">
              <a:buNone/>
            </a:pPr>
            <a:r>
              <a:rPr lang="en-US" sz="1500" b="1" dirty="0">
                <a:solidFill>
                  <a:srgbClr val="FFFFFF"/>
                </a:solidFill>
              </a:rPr>
              <a:t>Revista destino</a:t>
            </a:r>
            <a:endParaRPr lang="en-US" sz="1500" dirty="0"/>
          </a:p>
        </p:txBody>
      </p:sp>
      <p:sp>
        <p:nvSpPr>
          <p:cNvPr id="14" name="Text 12"/>
          <p:cNvSpPr txBox="1"/>
          <p:nvPr/>
        </p:nvSpPr>
        <p:spPr>
          <a:xfrm>
            <a:off x="6510528" y="2313432"/>
            <a:ext cx="4846320" cy="777240"/>
          </a:xfrm>
          <a:prstGeom prst="rect">
            <a:avLst/>
          </a:prstGeom>
          <a:noFill/>
          <a:ln/>
        </p:spPr>
        <p:txBody>
          <a:bodyPr wrap="square" lIns="0" tIns="0" rIns="0" bIns="0" rtlCol="0" anchor="ctr"/>
          <a:lstStyle/>
          <a:p>
            <a:pPr indent="0" marL="0">
              <a:lnSpc>
                <a:spcPts val="1400"/>
              </a:lnSpc>
              <a:buNone/>
            </a:pPr>
            <a:r>
              <a:rPr lang="en-US" sz="1150" dirty="0">
                <a:solidFill>
                  <a:srgbClr val="C7D8E6"/>
                </a:solidFill>
              </a:rPr>
              <a:t>El alcance ya no es de congreso: hay tres corpus, protocolo verificado y cuatro hallazgos metodologicos. Hay que fijar la revista JCR para calibrar extension y enfasis.</a:t>
            </a:r>
            <a:endParaRPr lang="en-US" sz="1150" dirty="0"/>
          </a:p>
        </p:txBody>
      </p:sp>
      <p:sp>
        <p:nvSpPr>
          <p:cNvPr id="15" name="tarjeta_56"/>
          <p:cNvSpPr/>
          <p:nvPr/>
        </p:nvSpPr>
        <p:spPr>
          <a:xfrm>
            <a:off x="6236208" y="3364992"/>
            <a:ext cx="5394960" cy="1417320"/>
          </a:xfrm>
          <a:prstGeom prst="roundRect">
            <a:avLst>
              <a:gd name="adj" fmla="val 3871"/>
            </a:avLst>
          </a:prstGeom>
          <a:solidFill>
            <a:srgbClr val="17486B"/>
          </a:solidFill>
          <a:ln w="12700">
            <a:solidFill>
              <a:srgbClr val="17486B"/>
            </a:solidFill>
            <a:prstDash val="solid"/>
          </a:ln>
        </p:spPr>
      </p:sp>
      <p:sp>
        <p:nvSpPr>
          <p:cNvPr id="16" name="pastilla_57"/>
          <p:cNvSpPr/>
          <p:nvPr/>
        </p:nvSpPr>
        <p:spPr>
          <a:xfrm>
            <a:off x="6510528" y="3547872"/>
            <a:ext cx="1188720" cy="256032"/>
          </a:xfrm>
          <a:prstGeom prst="roundRect">
            <a:avLst>
              <a:gd name="adj" fmla="val 50000"/>
            </a:avLst>
          </a:prstGeom>
          <a:solidFill>
            <a:srgbClr val="C1663A"/>
          </a:solidFill>
          <a:ln w="12700">
            <a:solidFill>
              <a:srgbClr val="C1663A"/>
            </a:solidFill>
            <a:prstDash val="solid"/>
          </a:ln>
        </p:spPr>
      </p:sp>
      <p:sp>
        <p:nvSpPr>
          <p:cNvPr id="17" name="Text 15"/>
          <p:cNvSpPr txBox="1"/>
          <p:nvPr/>
        </p:nvSpPr>
        <p:spPr>
          <a:xfrm>
            <a:off x="6510528" y="3547872"/>
            <a:ext cx="1188720" cy="256032"/>
          </a:xfrm>
          <a:prstGeom prst="rect">
            <a:avLst/>
          </a:prstGeom>
          <a:noFill/>
          <a:ln/>
        </p:spPr>
        <p:txBody>
          <a:bodyPr wrap="square" lIns="0" tIns="0" rIns="0" bIns="0" rtlCol="0" anchor="ctr"/>
          <a:lstStyle/>
          <a:p>
            <a:pPr algn="ctr" indent="0" marL="0">
              <a:buNone/>
            </a:pPr>
            <a:r>
              <a:rPr lang="en-US" sz="900" b="1" dirty="0">
                <a:solidFill>
                  <a:srgbClr val="FFFFFF"/>
                </a:solidFill>
              </a:rPr>
              <a:t>DECISION</a:t>
            </a:r>
            <a:endParaRPr lang="en-US" sz="900" dirty="0"/>
          </a:p>
        </p:txBody>
      </p:sp>
      <p:sp>
        <p:nvSpPr>
          <p:cNvPr id="18" name="Text 16"/>
          <p:cNvSpPr txBox="1"/>
          <p:nvPr/>
        </p:nvSpPr>
        <p:spPr>
          <a:xfrm>
            <a:off x="7818120" y="3511296"/>
            <a:ext cx="3657600" cy="320040"/>
          </a:xfrm>
          <a:prstGeom prst="rect">
            <a:avLst/>
          </a:prstGeom>
          <a:noFill/>
          <a:ln/>
        </p:spPr>
        <p:txBody>
          <a:bodyPr wrap="square" lIns="0" tIns="0" rIns="0" bIns="0" rtlCol="0" anchor="ctr"/>
          <a:lstStyle/>
          <a:p>
            <a:pPr indent="0" marL="0">
              <a:buNone/>
            </a:pPr>
            <a:r>
              <a:rPr lang="en-US" sz="1500" b="1" dirty="0">
                <a:solidFill>
                  <a:srgbClr val="FFFFFF"/>
                </a:solidFill>
              </a:rPr>
              <a:t>¿Se abre la linea contrastiva?</a:t>
            </a:r>
            <a:endParaRPr lang="en-US" sz="1500" dirty="0"/>
          </a:p>
        </p:txBody>
      </p:sp>
      <p:sp>
        <p:nvSpPr>
          <p:cNvPr id="19" name="Text 17"/>
          <p:cNvSpPr txBox="1"/>
          <p:nvPr/>
        </p:nvSpPr>
        <p:spPr>
          <a:xfrm>
            <a:off x="6510528" y="3895344"/>
            <a:ext cx="4846320" cy="777240"/>
          </a:xfrm>
          <a:prstGeom prst="rect">
            <a:avLst/>
          </a:prstGeom>
          <a:noFill/>
          <a:ln/>
        </p:spPr>
        <p:txBody>
          <a:bodyPr wrap="square" lIns="0" tIns="0" rIns="0" bIns="0" rtlCol="0" anchor="ctr"/>
          <a:lstStyle/>
          <a:p>
            <a:pPr indent="0" marL="0">
              <a:lnSpc>
                <a:spcPts val="1400"/>
              </a:lnSpc>
              <a:buNone/>
            </a:pPr>
            <a:r>
              <a:rPr lang="en-US" sz="1150" dirty="0">
                <a:solidFill>
                  <a:srgbClr val="C7D8E6"/>
                </a:solidFill>
              </a:rPr>
              <a:t>Nuestro propio diagnostico dice que las ramas no estan alineadas de una forma que la seleccion pueda explotar, y eso es lo que atacaria un termino de alineacion cruzada. Cuesta multi-semilla en los tres corpus.</a:t>
            </a:r>
            <a:endParaRPr lang="en-US" sz="1150" dirty="0"/>
          </a:p>
        </p:txBody>
      </p:sp>
      <p:sp>
        <p:nvSpPr>
          <p:cNvPr id="20" name="tarjeta_58"/>
          <p:cNvSpPr/>
          <p:nvPr/>
        </p:nvSpPr>
        <p:spPr>
          <a:xfrm>
            <a:off x="640080" y="5321808"/>
            <a:ext cx="10911535" cy="914400"/>
          </a:xfrm>
          <a:prstGeom prst="roundRect">
            <a:avLst>
              <a:gd name="adj" fmla="val 6000"/>
            </a:avLst>
          </a:prstGeom>
          <a:solidFill>
            <a:srgbClr val="17486B"/>
          </a:solidFill>
          <a:ln w="12700">
            <a:solidFill>
              <a:srgbClr val="17486B"/>
            </a:solidFill>
            <a:prstDash val="solid"/>
          </a:ln>
        </p:spPr>
      </p:sp>
      <p:sp>
        <p:nvSpPr>
          <p:cNvPr id="21" name="Text 19"/>
          <p:cNvSpPr txBox="1"/>
          <p:nvPr/>
        </p:nvSpPr>
        <p:spPr>
          <a:xfrm>
            <a:off x="960120" y="5321808"/>
            <a:ext cx="10271455" cy="914400"/>
          </a:xfrm>
          <a:prstGeom prst="rect">
            <a:avLst/>
          </a:prstGeom>
          <a:noFill/>
          <a:ln/>
        </p:spPr>
        <p:txBody>
          <a:bodyPr wrap="square" lIns="0" tIns="0" rIns="0" bIns="0" rtlCol="0" anchor="ctr"/>
          <a:lstStyle/>
          <a:p>
            <a:pPr indent="0" marL="0">
              <a:lnSpc>
                <a:spcPts val="1900"/>
              </a:lnSpc>
              <a:buNone/>
            </a:pPr>
            <a:r>
              <a:rPr lang="en-US" sz="1400" b="1" dirty="0">
                <a:solidFill>
                  <a:srgbClr val="F0B98E"/>
                </a:solidFill>
              </a:rPr>
              <a:t>Resumen en una frase: </a:t>
            </a:r>
            <a:pPr indent="0" marL="0">
              <a:lnSpc>
                <a:spcPts val="1900"/>
              </a:lnSpc>
              <a:buNone/>
            </a:pPr>
            <a:r>
              <a:rPr lang="en-US" sz="1400" dirty="0">
                <a:solidFill>
                  <a:srgbClr val="FFFFFF"/>
                </a:solidFill>
              </a:rPr>
              <a:t>el rechazo estaba justificado y por razones mas profundas que las que vieron los revisores, pero lo que queda despues de la auditoria es un articulo distinto — con un hallazgo que ningun corpus por separado permite ver — y con el instrumental para sostenerlo.</a:t>
            </a:r>
            <a:endParaRPr lang="en-US" sz="1400" dirty="0"/>
          </a:p>
        </p:txBody>
      </p:sp>
      <p:sp>
        <p:nvSpPr>
          <p:cNvPr id="25" name="Slide Number Placeholder 0"/>
          <p:cNvSpPr>
            <a:spLocks noGrp="1"/>
          </p:cNvSpPr>
          <p:nvPr>
            <p:ph type="sldNum" sz="quarter" idx="4294967295"/>
          </p:nvPr>
        </p:nvSpPr>
        <p:spPr>
          <a:xfrm>
            <a:off x="1109441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8CA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AMF Avance">
  <a:themeElements>
    <a:clrScheme name="CAMF Avance">
      <a:dk1>
        <a:srgbClr val="16202E"/>
      </a:dk1>
      <a:lt1>
        <a:srgbClr val="FFFFFF"/>
      </a:lt1>
      <a:dk2>
        <a:srgbClr val="2F3A4D"/>
      </a:dk2>
      <a:lt2>
        <a:srgbClr val="EEF2F7"/>
      </a:lt2>
      <a:accent1>
        <a:srgbClr val="0B3C5D"/>
      </a:accent1>
      <a:accent2>
        <a:srgbClr val="1C7293"/>
      </a:accent2>
      <a:accent3>
        <a:srgbClr val="C1663A"/>
      </a:accent3>
      <a:accent4>
        <a:srgbClr val="8C2F39"/>
      </a:accent4>
      <a:accent5>
        <a:srgbClr val="2E7D5B"/>
      </a:accent5>
      <a:accent6>
        <a:srgbClr val="6B7280"/>
      </a:accent6>
      <a:hlink>
        <a:srgbClr val="1C7293"/>
      </a:hlink>
      <a:folHlink>
        <a:srgbClr val="6B7280"/>
      </a:folHlink>
    </a:clrScheme>
    <a:fontScheme name="CAMF Av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CAMF - Avance tras el dictamen de CIARP 2026</dc:title>
  <dc:subject>PptxGenJS Presentation</dc:subject>
  <dc:creator>Jorge Luis Jorrin Coz</dc:creator>
  <cp:lastModifiedBy>Jorge Luis Jorrin Coz</cp:lastModifiedBy>
  <cp:revision>1</cp:revision>
  <dcterms:created xsi:type="dcterms:W3CDTF">2026-10-13T01:20:28Z</dcterms:created>
  <dcterms:modified xsi:type="dcterms:W3CDTF">2026-10-13T01:20:28Z</dcterms:modified>
</cp:coreProperties>
</file>